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Quicksa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A6D1D8-494D-4E4D-99A3-63808357D4BF}">
  <a:tblStyle styleId="{5EA6D1D8-494D-4E4D-99A3-63808357D4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icksan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Quicksa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dec5939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5dec593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0809d1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0809d1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d0809d16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d0809d16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d0809d16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d0809d16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0809d168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d0809d168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0809d16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0809d16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0809d168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d0809d168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9b76db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9b76db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09b76db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d09b76db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5dec593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5dec59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56100"/>
            <a:ext cx="4422900" cy="15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Python Programming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51800" y="2826275"/>
            <a:ext cx="41427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Learning the basics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descr="Programmer writing code on computer screen - cartoon woman with laptop (Provided by Getty Images)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600" y="827100"/>
            <a:ext cx="4104602" cy="3489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26750" y="445025"/>
            <a:ext cx="328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4CCCC"/>
                </a:solidFill>
                <a:latin typeface="Quicksand"/>
                <a:ea typeface="Quicksand"/>
                <a:cs typeface="Quicksand"/>
                <a:sym typeface="Quicksand"/>
              </a:rPr>
              <a:t>Learning Intention</a:t>
            </a:r>
            <a:endParaRPr b="1">
              <a:solidFill>
                <a:srgbClr val="F4CCC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Today we will learn how to display outputs, use inputs, store data in variables, and build simple Python programs. </a:t>
            </a:r>
            <a:endParaRPr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By the end of this lesson, you will be able to: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print()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to display messages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input()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to ask the user questions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store information in </a:t>
            </a:r>
            <a:r>
              <a:rPr lang="en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variables</a:t>
            </a:r>
            <a:endParaRPr>
              <a:solidFill>
                <a:srgbClr val="CC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create a simple </a:t>
            </a:r>
            <a:r>
              <a:rPr lang="en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Python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program using inputs and outputs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5547300" y="445025"/>
            <a:ext cx="328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EAD3"/>
                </a:solidFill>
                <a:latin typeface="Quicksand"/>
                <a:ea typeface="Quicksand"/>
                <a:cs typeface="Quicksand"/>
                <a:sym typeface="Quicksand"/>
              </a:rPr>
              <a:t>Success Criteria </a:t>
            </a:r>
            <a:endParaRPr b="1">
              <a:solidFill>
                <a:srgbClr val="D9EAD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02675"/>
            <a:ext cx="715050" cy="71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373850"/>
            <a:ext cx="715050" cy="7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5"/>
          <p:cNvGraphicFramePr/>
          <p:nvPr/>
        </p:nvGraphicFramePr>
        <p:xfrm>
          <a:off x="1299163" y="174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1897775"/>
              </a:tblGrid>
              <a:tr h="45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Input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Values which get sent from the user into the computer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2" name="Google Shape;72;p15"/>
          <p:cNvGraphicFramePr/>
          <p:nvPr/>
        </p:nvGraphicFramePr>
        <p:xfrm>
          <a:off x="3653563" y="174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1897775"/>
              </a:tblGrid>
              <a:tr h="44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Variable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120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place where inputs get stored by the program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3" name="Google Shape;73;p15"/>
          <p:cNvGraphicFramePr/>
          <p:nvPr/>
        </p:nvGraphicFramePr>
        <p:xfrm>
          <a:off x="6007963" y="174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1897775"/>
              </a:tblGrid>
              <a:tr h="45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Output</a:t>
                      </a:r>
                      <a:endParaRPr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values which get sent from the computer to the user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" name="Google Shape;74;p15"/>
          <p:cNvSpPr/>
          <p:nvPr/>
        </p:nvSpPr>
        <p:spPr>
          <a:xfrm>
            <a:off x="248700" y="146150"/>
            <a:ext cx="8707500" cy="68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Todays Keywords</a:t>
            </a:r>
            <a:endParaRPr sz="25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00" y="146150"/>
            <a:ext cx="688800" cy="68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16"/>
          <p:cNvGraphicFramePr/>
          <p:nvPr/>
        </p:nvGraphicFramePr>
        <p:xfrm>
          <a:off x="3041800" y="106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2797000"/>
              </a:tblGrid>
              <a:tr h="40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Games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146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Python is used in gaming to create game features, test games, and control things like scores, menus and player actions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1" name="Google Shape;81;p16"/>
          <p:cNvGraphicFramePr/>
          <p:nvPr/>
        </p:nvGraphicFramePr>
        <p:xfrm>
          <a:off x="5977500" y="106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2797000"/>
              </a:tblGrid>
              <a:tr h="40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Websites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146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Python is used by many popular websites and apps to manage data, user accounts, recommendations and features behind the scenes.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3041800" y="30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2797000"/>
              </a:tblGrid>
              <a:tr h="42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Apps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144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Python is used in many apps to manage accounts, store data, and power features behind the scenes.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3" name="Google Shape;83;p16"/>
          <p:cNvGraphicFramePr/>
          <p:nvPr/>
        </p:nvGraphicFramePr>
        <p:xfrm>
          <a:off x="6029175" y="308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2797000"/>
              </a:tblGrid>
              <a:tr h="40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AI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Systems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83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Python is one of the most popular programming languages used to create AI systems such as chatbots, recommendation systems and voice assistants.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" name="Google Shape;84;p16"/>
          <p:cNvSpPr/>
          <p:nvPr/>
        </p:nvSpPr>
        <p:spPr>
          <a:xfrm>
            <a:off x="1089175" y="219225"/>
            <a:ext cx="7737000" cy="68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What is Python?</a:t>
            </a:r>
            <a:endParaRPr sz="25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48700" y="1226050"/>
            <a:ext cx="2654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Python is a very powerful programming languages that is used to create: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50" y="73075"/>
            <a:ext cx="834950" cy="8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762875" y="445025"/>
            <a:ext cx="806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What is an Output</a:t>
            </a:r>
            <a:r>
              <a:rPr lang="en" sz="140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An input is information sent from the user to the computer.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Programs often need information from the user to work properly.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Examples of inputs: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typing on a keyboard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clicking a mouse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speaking into a microphone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tapping a touchscreen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 Python, we display outputs using: </a:t>
            </a: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input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() </a:t>
            </a:r>
            <a:endParaRPr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Example:</a:t>
            </a:r>
            <a:r>
              <a:rPr b="1" lang="en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print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b="1" lang="en">
                <a:solidFill>
                  <a:srgbClr val="9900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“Hello World”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b="1">
              <a:solidFill>
                <a:srgbClr val="FF9900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program: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C27BA0"/>
              </a:buClr>
              <a:buSzPts val="1100"/>
              <a:buAutoNum type="arabicPeriod"/>
            </a:pPr>
            <a:r>
              <a:rPr b="1" lang="en">
                <a:solidFill>
                  <a:srgbClr val="C27BA0"/>
                </a:solidFill>
                <a:latin typeface="Quicksand"/>
                <a:ea typeface="Quicksand"/>
                <a:cs typeface="Quicksand"/>
                <a:sym typeface="Quicksand"/>
              </a:rPr>
              <a:t>displays the words Hello World</a:t>
            </a:r>
            <a:endParaRPr b="1">
              <a:solidFill>
                <a:srgbClr val="C27BA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7"/>
          <p:cNvCxnSpPr/>
          <p:nvPr/>
        </p:nvCxnSpPr>
        <p:spPr>
          <a:xfrm>
            <a:off x="4357025" y="1156100"/>
            <a:ext cx="15600" cy="36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25" y="445027"/>
            <a:ext cx="407250" cy="4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18"/>
          <p:cNvGraphicFramePr/>
          <p:nvPr/>
        </p:nvGraphicFramePr>
        <p:xfrm>
          <a:off x="258550" y="103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839350"/>
                <a:gridCol w="3699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1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 Thonny type the following lines of code: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print("Hello World")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print("My name is ____")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print("I enjoy Computing Science")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2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Create your own program that displays:</a:t>
                      </a:r>
                      <a:endParaRPr sz="1500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Quicksand"/>
                        <a:buChar char="-"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Your favourite game</a:t>
                      </a:r>
                      <a:endParaRPr sz="1500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Quicksand"/>
                        <a:buChar char="-"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Your favourite food</a:t>
                      </a:r>
                      <a:endParaRPr sz="1500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Quicksand"/>
                        <a:buChar char="-"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 message to your class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" name="Google Shape;101;p18"/>
          <p:cNvSpPr/>
          <p:nvPr/>
        </p:nvSpPr>
        <p:spPr>
          <a:xfrm>
            <a:off x="248700" y="146150"/>
            <a:ext cx="8707500" cy="68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Task One</a:t>
            </a:r>
            <a:endParaRPr sz="25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5" y="230250"/>
            <a:ext cx="520600" cy="520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18"/>
          <p:cNvGraphicFramePr/>
          <p:nvPr/>
        </p:nvGraphicFramePr>
        <p:xfrm>
          <a:off x="4770875" y="248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808750"/>
                <a:gridCol w="3564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3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Create a program that displays: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 title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Three different message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 blank line between sections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4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Create a welcome screen for a game that must include: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314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rgbClr val="121314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 title</a:t>
                      </a:r>
                      <a:endParaRPr>
                        <a:solidFill>
                          <a:srgbClr val="121314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314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rgbClr val="121314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Instructions using multiple print statements</a:t>
                      </a:r>
                      <a:endParaRPr>
                        <a:solidFill>
                          <a:srgbClr val="121314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" name="Google Shape;104;p18"/>
          <p:cNvSpPr txBox="1"/>
          <p:nvPr/>
        </p:nvSpPr>
        <p:spPr>
          <a:xfrm>
            <a:off x="5771075" y="14732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at </a:t>
            </a:r>
            <a:r>
              <a:rPr lang="en" sz="1500" u="sng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Level One</a:t>
            </a: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then keep working through the questions.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8"/>
          <p:cNvSpPr/>
          <p:nvPr/>
        </p:nvSpPr>
        <p:spPr>
          <a:xfrm flipH="1" rot="10800000">
            <a:off x="3606975" y="3332950"/>
            <a:ext cx="692400" cy="757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779975" y="3448575"/>
            <a:ext cx="264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Challenge yourself to see how far you can go………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 flipH="1">
            <a:off x="5036250" y="1312013"/>
            <a:ext cx="692400" cy="757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75" y="3511525"/>
            <a:ext cx="520600" cy="5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258550" y="4676400"/>
            <a:ext cx="582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Note:</a:t>
            </a: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For each level create a </a:t>
            </a:r>
            <a:r>
              <a:rPr b="1"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new file</a:t>
            </a: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 </a:t>
            </a:r>
            <a:r>
              <a:rPr b="1"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Thonny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810050" y="445025"/>
            <a:ext cx="802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What is an Input</a:t>
            </a:r>
            <a:r>
              <a:rPr lang="en" sz="1400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An input is information sent from the user to the computer.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Programs often need information from the user to work properly.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Examples of inputs: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typing on a keyboard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clicking a mouse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speaking into a microphone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tapping a touchscreen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 Python, we display outputs using: </a:t>
            </a: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input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() </a:t>
            </a:r>
            <a:endParaRPr/>
          </a:p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Example: </a:t>
            </a: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input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b="1" lang="en">
                <a:solidFill>
                  <a:srgbClr val="9900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“What is your name?”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) </a:t>
            </a:r>
            <a:endParaRPr b="1">
              <a:solidFill>
                <a:srgbClr val="FF9900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program: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C27BA0"/>
              </a:buClr>
              <a:buSzPts val="1100"/>
              <a:buAutoNum type="arabicPeriod"/>
            </a:pPr>
            <a:r>
              <a:rPr b="1" lang="en">
                <a:solidFill>
                  <a:srgbClr val="C27BA0"/>
                </a:solidFill>
                <a:latin typeface="Quicksand"/>
                <a:ea typeface="Quicksand"/>
                <a:cs typeface="Quicksand"/>
                <a:sym typeface="Quicksand"/>
              </a:rPr>
              <a:t>displays a question</a:t>
            </a:r>
            <a:endParaRPr b="1">
              <a:solidFill>
                <a:srgbClr val="C27BA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AutoNum type="arabicPeriod"/>
            </a:pPr>
            <a:r>
              <a:rPr b="1" lang="en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</a:rPr>
              <a:t>waits for the user to type an answer</a:t>
            </a:r>
            <a:endParaRPr/>
          </a:p>
        </p:txBody>
      </p:sp>
      <p:cxnSp>
        <p:nvCxnSpPr>
          <p:cNvPr id="117" name="Google Shape;117;p19"/>
          <p:cNvCxnSpPr/>
          <p:nvPr/>
        </p:nvCxnSpPr>
        <p:spPr>
          <a:xfrm>
            <a:off x="4357025" y="1156100"/>
            <a:ext cx="15600" cy="36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78463"/>
            <a:ext cx="411480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810050" y="445025"/>
            <a:ext cx="802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What is a Variable?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variable is a storage box used to store data in a program.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Programs use variables to remember information.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player score in a game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username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password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high score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Example: </a:t>
            </a:r>
            <a:r>
              <a:rPr b="1" lang="en">
                <a:solidFill>
                  <a:srgbClr val="F1C232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name</a:t>
            </a: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 = </a:t>
            </a:r>
            <a:r>
              <a:rPr b="1" lang="en">
                <a:solidFill>
                  <a:srgbClr val="9900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“Mr Wood”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>
              <a:solidFill>
                <a:srgbClr val="FF9900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 this program:</a:t>
            </a:r>
            <a:endParaRPr b="1">
              <a:solidFill>
                <a:srgbClr val="1155CC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C283B5"/>
              </a:buClr>
              <a:buSzPts val="1400"/>
              <a:buFont typeface="Quicksand"/>
              <a:buAutoNum type="arabicPeriod"/>
            </a:pPr>
            <a:r>
              <a:rPr b="1" lang="en">
                <a:solidFill>
                  <a:srgbClr val="C283B5"/>
                </a:solidFill>
                <a:latin typeface="Quicksand"/>
                <a:ea typeface="Quicksand"/>
                <a:cs typeface="Quicksand"/>
                <a:sym typeface="Quicksand"/>
              </a:rPr>
              <a:t>name 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is the variable name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55D6"/>
              </a:buClr>
              <a:buSzPts val="1400"/>
              <a:buFont typeface="Quicksand"/>
              <a:buAutoNum type="arabicPeriod"/>
            </a:pPr>
            <a:r>
              <a:rPr b="1" lang="en">
                <a:solidFill>
                  <a:srgbClr val="1155D6"/>
                </a:solidFill>
                <a:latin typeface="Quicksand"/>
                <a:ea typeface="Quicksand"/>
                <a:cs typeface="Quicksand"/>
                <a:sym typeface="Quicksand"/>
              </a:rPr>
              <a:t>"Mr Wood" </a:t>
            </a:r>
            <a:r>
              <a:rPr lang="en">
                <a:solidFill>
                  <a:srgbClr val="282828"/>
                </a:solidFill>
                <a:latin typeface="Quicksand"/>
                <a:ea typeface="Quicksand"/>
                <a:cs typeface="Quicksand"/>
                <a:sym typeface="Quicksand"/>
              </a:rPr>
              <a:t>is the value being stored</a:t>
            </a:r>
            <a:endParaRPr>
              <a:solidFill>
                <a:srgbClr val="282828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 can think of a variable like: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</a:rPr>
              <a:t>📦 </a:t>
            </a:r>
            <a:r>
              <a:rPr b="1" lang="en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a labelled box that stores information</a:t>
            </a:r>
            <a:r>
              <a:rPr b="1" lang="en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>
              <a:solidFill>
                <a:srgbClr val="1155CC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>
            <a:off x="4357025" y="1156100"/>
            <a:ext cx="15600" cy="36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78463"/>
            <a:ext cx="411480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810050" y="445025"/>
            <a:ext cx="802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What is a Variable?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Programs become much more useful when we combine: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inputs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variables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outputs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21"/>
          <p:cNvSpPr txBox="1"/>
          <p:nvPr>
            <p:ph idx="2" type="body"/>
          </p:nvPr>
        </p:nvSpPr>
        <p:spPr>
          <a:xfrm>
            <a:off x="4800950" y="1017725"/>
            <a:ext cx="3999900" cy="3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Example: 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88038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1C232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name</a:t>
            </a: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 = </a:t>
            </a:r>
            <a:r>
              <a:rPr b="1" lang="en">
                <a:solidFill>
                  <a:srgbClr val="8E7CC3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input</a:t>
            </a: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b="1" lang="en">
                <a:solidFill>
                  <a:srgbClr val="9900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“What is your name?”)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>
              <a:solidFill>
                <a:srgbClr val="FF9900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F9900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print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b="1" lang="en">
                <a:solidFill>
                  <a:srgbClr val="9900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name</a:t>
            </a:r>
            <a:r>
              <a:rPr b="1" lang="en">
                <a:solidFill>
                  <a:srgbClr val="FF9900"/>
                </a:solidFill>
                <a:highlight>
                  <a:schemeClr val="lt2"/>
                </a:highlight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b="1">
              <a:solidFill>
                <a:srgbClr val="FF9900"/>
              </a:solidFill>
              <a:highlight>
                <a:schemeClr val="lt2"/>
              </a:highlight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What happens here?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Step 1 - 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Python asks the user a question.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Step 2 - 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user types an answer.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Step 3 - 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answer is stored in the variable called </a:t>
            </a:r>
            <a:r>
              <a:rPr lang="en">
                <a:solidFill>
                  <a:srgbClr val="188038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Step 4 - 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program displays the stored answer.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>
            <a:off x="4357025" y="1156100"/>
            <a:ext cx="15600" cy="36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78463"/>
            <a:ext cx="411480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p22"/>
          <p:cNvGraphicFramePr/>
          <p:nvPr/>
        </p:nvGraphicFramePr>
        <p:xfrm>
          <a:off x="258550" y="103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839350"/>
                <a:gridCol w="3699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1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82828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Write a program that asks the user for their name.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2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Write a program that asks a user for their: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Name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Favourite colour</a:t>
                      </a:r>
                      <a:endParaRPr sz="1500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" name="Google Shape;142;p22"/>
          <p:cNvSpPr/>
          <p:nvPr/>
        </p:nvSpPr>
        <p:spPr>
          <a:xfrm>
            <a:off x="248700" y="146150"/>
            <a:ext cx="8707500" cy="68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Quicksand"/>
                <a:ea typeface="Quicksand"/>
                <a:cs typeface="Quicksand"/>
                <a:sym typeface="Quicksand"/>
              </a:rPr>
              <a:t>Task Two</a:t>
            </a:r>
            <a:endParaRPr sz="25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5" y="230250"/>
            <a:ext cx="520600" cy="520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22"/>
          <p:cNvGraphicFramePr/>
          <p:nvPr/>
        </p:nvGraphicFramePr>
        <p:xfrm>
          <a:off x="4660775" y="2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{5EA6D1D8-494D-4E4D-99A3-63808357D4BF}</a:tableStyleId>
              </a:tblPr>
              <a:tblGrid>
                <a:gridCol w="808750"/>
                <a:gridCol w="3564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3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Write a program that asks a user for their: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Name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Favourite colour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Then display both answers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Level 4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Create a small interview program.</a:t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314"/>
                        </a:buClr>
                        <a:buSzPts val="1400"/>
                        <a:buFont typeface="Quicksand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Ask at least 4 questions and display all answers </a:t>
                      </a:r>
                      <a:endParaRPr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" name="Google Shape;145;p22"/>
          <p:cNvSpPr txBox="1"/>
          <p:nvPr/>
        </p:nvSpPr>
        <p:spPr>
          <a:xfrm>
            <a:off x="5771075" y="14732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at </a:t>
            </a:r>
            <a:r>
              <a:rPr lang="en" sz="1500" u="sng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Level One</a:t>
            </a: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then keep working through the questions.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22"/>
          <p:cNvSpPr/>
          <p:nvPr/>
        </p:nvSpPr>
        <p:spPr>
          <a:xfrm flipH="1" rot="10800000">
            <a:off x="3583375" y="2693925"/>
            <a:ext cx="692400" cy="757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 flipH="1">
            <a:off x="5036250" y="1312013"/>
            <a:ext cx="692400" cy="757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833025" y="2778025"/>
            <a:ext cx="264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Challenge yourself to see how far you can go………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25" y="2840975"/>
            <a:ext cx="520600" cy="5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258550" y="4676400"/>
            <a:ext cx="582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latin typeface="Quicksand"/>
                <a:ea typeface="Quicksand"/>
                <a:cs typeface="Quicksand"/>
                <a:sym typeface="Quicksand"/>
              </a:rPr>
              <a:t>Note:</a:t>
            </a: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For each level create a </a:t>
            </a:r>
            <a:r>
              <a:rPr b="1"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new file</a:t>
            </a:r>
            <a:r>
              <a:rPr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 </a:t>
            </a:r>
            <a:r>
              <a:rPr b="1"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Thonny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