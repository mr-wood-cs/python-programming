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7" r:id="rId2"/>
    <p:sldId id="268" r:id="rId3"/>
    <p:sldId id="310" r:id="rId4"/>
    <p:sldId id="289" r:id="rId5"/>
    <p:sldId id="315" r:id="rId6"/>
    <p:sldId id="333" r:id="rId7"/>
    <p:sldId id="334" r:id="rId8"/>
    <p:sldId id="319" r:id="rId9"/>
    <p:sldId id="318" r:id="rId10"/>
    <p:sldId id="320" r:id="rId11"/>
    <p:sldId id="321" r:id="rId12"/>
    <p:sldId id="322" r:id="rId13"/>
    <p:sldId id="323" r:id="rId14"/>
    <p:sldId id="325" r:id="rId15"/>
    <p:sldId id="324" r:id="rId16"/>
    <p:sldId id="326" r:id="rId17"/>
    <p:sldId id="327" r:id="rId18"/>
    <p:sldId id="332" r:id="rId19"/>
    <p:sldId id="330" r:id="rId20"/>
    <p:sldId id="328" r:id="rId21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94660"/>
  </p:normalViewPr>
  <p:slideViewPr>
    <p:cSldViewPr>
      <p:cViewPr>
        <p:scale>
          <a:sx n="75" d="100"/>
          <a:sy n="75" d="100"/>
        </p:scale>
        <p:origin x="306" y="80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E99A9-B99E-420F-9021-5490202BBDB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Sidmouth College Computer Studies Department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C6AB2-E972-471A-8A00-AEA8AD547B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5211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DBEF-E7F9-43A9-AE87-E7E0C46BE106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Sidmouth College Computer Studies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27FFD-109F-4175-8055-DFA41E4343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7992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9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30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86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57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15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65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3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65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49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26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25/05/2018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64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602512" cy="4610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Rectangle 12"/>
          <p:cNvSpPr/>
          <p:nvPr userDrawn="1"/>
        </p:nvSpPr>
        <p:spPr>
          <a:xfrm>
            <a:off x="-322" y="0"/>
            <a:ext cx="323528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12" y="6335299"/>
            <a:ext cx="1522512" cy="377582"/>
          </a:xfrm>
          <a:prstGeom prst="rect">
            <a:avLst/>
          </a:prstGeom>
        </p:spPr>
      </p:pic>
      <p:sp>
        <p:nvSpPr>
          <p:cNvPr id="9" name="TextBox 4"/>
          <p:cNvSpPr txBox="1"/>
          <p:nvPr userDrawn="1"/>
        </p:nvSpPr>
        <p:spPr>
          <a:xfrm>
            <a:off x="6221722" y="6406809"/>
            <a:ext cx="2872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www.computerscienceuk.com</a:t>
            </a:r>
          </a:p>
        </p:txBody>
      </p:sp>
    </p:spTree>
    <p:extLst>
      <p:ext uri="{BB962C8B-B14F-4D97-AF65-F5344CB8AC3E}">
        <p14:creationId xmlns:p14="http://schemas.microsoft.com/office/powerpoint/2010/main" val="131631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From Scratch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/>
              <a:t>Learn to program like the big boys / girls!</a:t>
            </a:r>
          </a:p>
        </p:txBody>
      </p:sp>
    </p:spTree>
    <p:extLst>
      <p:ext uri="{BB962C8B-B14F-4D97-AF65-F5344CB8AC3E}">
        <p14:creationId xmlns:p14="http://schemas.microsoft.com/office/powerpoint/2010/main" val="2876775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92168" cy="864096"/>
          </a:xfrm>
        </p:spPr>
        <p:txBody>
          <a:bodyPr/>
          <a:lstStyle/>
          <a:p>
            <a:r>
              <a:rPr lang="en-GB" dirty="0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602512" cy="3168351"/>
          </a:xfrm>
        </p:spPr>
        <p:txBody>
          <a:bodyPr>
            <a:normAutofit fontScale="70000" lnSpcReduction="20000"/>
          </a:bodyPr>
          <a:lstStyle/>
          <a:p>
            <a:pPr marL="0" indent="0" fontAlgn="t">
              <a:buNone/>
            </a:pPr>
            <a:r>
              <a:rPr lang="en-GB" b="1" dirty="0"/>
              <a:t>Lesson Objectives</a:t>
            </a:r>
          </a:p>
          <a:p>
            <a:r>
              <a:rPr lang="en-GB" dirty="0"/>
              <a:t>Remember how we program inputs/outputs/variables</a:t>
            </a:r>
          </a:p>
          <a:p>
            <a:r>
              <a:rPr lang="en-GB" dirty="0"/>
              <a:t>Remember what a variable’s </a:t>
            </a:r>
            <a:r>
              <a:rPr lang="en-GB" b="1" dirty="0"/>
              <a:t>data type </a:t>
            </a:r>
            <a:r>
              <a:rPr lang="en-GB" dirty="0"/>
              <a:t>means</a:t>
            </a:r>
          </a:p>
          <a:p>
            <a:r>
              <a:rPr lang="en-GB" dirty="0"/>
              <a:t>Remember </a:t>
            </a:r>
            <a:r>
              <a:rPr lang="en-GB" b="1" dirty="0"/>
              <a:t>how</a:t>
            </a:r>
            <a:r>
              <a:rPr lang="en-GB" dirty="0"/>
              <a:t> to tell the computer which data type a variable is</a:t>
            </a:r>
          </a:p>
          <a:p>
            <a:r>
              <a:rPr lang="en-GB" dirty="0"/>
              <a:t>Learn how programs make </a:t>
            </a:r>
            <a:r>
              <a:rPr lang="en-GB" b="1" dirty="0"/>
              <a:t>decisions</a:t>
            </a:r>
            <a:r>
              <a:rPr lang="en-GB" dirty="0"/>
              <a:t> in Python</a:t>
            </a:r>
          </a:p>
          <a:p>
            <a:pPr marL="0" indent="0" fontAlgn="t">
              <a:buNone/>
            </a:pPr>
            <a:r>
              <a:rPr lang="en-GB" b="1" dirty="0"/>
              <a:t>Lesson Outcomes</a:t>
            </a:r>
          </a:p>
          <a:p>
            <a:pPr fontAlgn="t"/>
            <a:r>
              <a:rPr lang="en-GB" dirty="0"/>
              <a:t>Carrying out a number of programming tasks.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549730"/>
              </p:ext>
            </p:extLst>
          </p:nvPr>
        </p:nvGraphicFramePr>
        <p:xfrm>
          <a:off x="539552" y="4653136"/>
          <a:ext cx="835292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Literacy – Key Words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type of data being used by the 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place</a:t>
                      </a:r>
                      <a:r>
                        <a:rPr lang="en-GB" sz="1600" baseline="0" dirty="0"/>
                        <a:t> where inputs get stored by the program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40">
                <a:tc>
                  <a:txBody>
                    <a:bodyPr/>
                    <a:lstStyle/>
                    <a:p>
                      <a:r>
                        <a:rPr lang="en-GB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“Whole</a:t>
                      </a:r>
                      <a:r>
                        <a:rPr lang="en-GB" sz="1600" baseline="0" dirty="0"/>
                        <a:t> Number” data type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40">
                <a:tc>
                  <a:txBody>
                    <a:bodyPr/>
                    <a:lstStyle/>
                    <a:p>
                      <a:r>
                        <a:rPr lang="en-GB" sz="1600" dirty="0"/>
                        <a:t>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 control</a:t>
                      </a:r>
                      <a:r>
                        <a:rPr lang="en-GB" sz="1600" baseline="0" dirty="0"/>
                        <a:t> structure which allows programs to make decisions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36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765" y="2204864"/>
            <a:ext cx="8592168" cy="1143000"/>
          </a:xfrm>
        </p:spPr>
        <p:txBody>
          <a:bodyPr>
            <a:normAutofit fontScale="90000"/>
          </a:bodyPr>
          <a:lstStyle/>
          <a:p>
            <a:r>
              <a:rPr lang="en-GB" b="1" u="sng" dirty="0"/>
              <a:t>Starter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On your white boards, write a program which asks the user for two numbers, adds then together, then displays the result.</a:t>
            </a:r>
          </a:p>
        </p:txBody>
      </p:sp>
    </p:spTree>
    <p:extLst>
      <p:ext uri="{BB962C8B-B14F-4D97-AF65-F5344CB8AC3E}">
        <p14:creationId xmlns:p14="http://schemas.microsoft.com/office/powerpoint/2010/main" val="122902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Can you tell me the following…?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8602512" cy="461005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The python code needed to display a word on the screen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 python code needed to ask the user for an input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 way python can store user inputs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217" y="2492896"/>
            <a:ext cx="477422" cy="5277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217" y="3838156"/>
            <a:ext cx="477422" cy="5277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290" y="5301208"/>
            <a:ext cx="477422" cy="52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8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Dealing with numbers in Python</a:t>
            </a:r>
            <a:br>
              <a:rPr lang="en-GB" dirty="0"/>
            </a:br>
            <a:r>
              <a:rPr lang="en-GB" sz="2700" i="1" dirty="0"/>
              <a:t>The need to convert “Data Types”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488" y="1368104"/>
            <a:ext cx="8602512" cy="49412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Above you can see that two numbers have been entered and stored in variables num1 and num2.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As python stores inputs as strings we need to convert these variables into integers and to do this we have applied the </a:t>
            </a:r>
            <a:r>
              <a:rPr lang="en-GB" dirty="0" err="1"/>
              <a:t>int</a:t>
            </a:r>
            <a:r>
              <a:rPr lang="en-GB" dirty="0"/>
              <a:t>() function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440" t="12884" r="44482" b="61721"/>
          <a:stretch/>
        </p:blipFill>
        <p:spPr>
          <a:xfrm>
            <a:off x="1379252" y="1772816"/>
            <a:ext cx="6768752" cy="179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5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872" y="4960435"/>
            <a:ext cx="1058495" cy="105849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437" y="4939802"/>
            <a:ext cx="1391816" cy="101341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19" y="4919022"/>
            <a:ext cx="1391816" cy="10134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995" y="1856539"/>
            <a:ext cx="1391816" cy="101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343" y="391706"/>
            <a:ext cx="8592168" cy="360040"/>
          </a:xfrm>
        </p:spPr>
        <p:txBody>
          <a:bodyPr>
            <a:normAutofit fontScale="90000"/>
          </a:bodyPr>
          <a:lstStyle/>
          <a:p>
            <a:r>
              <a:rPr lang="en-GB" dirty="0"/>
              <a:t>What’s going 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6524" y="5332308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Variable</a:t>
            </a:r>
          </a:p>
        </p:txBody>
      </p:sp>
      <p:sp>
        <p:nvSpPr>
          <p:cNvPr id="7" name="TextBox 6"/>
          <p:cNvSpPr txBox="1"/>
          <p:nvPr/>
        </p:nvSpPr>
        <p:spPr>
          <a:xfrm rot="652814">
            <a:off x="1907511" y="4538617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</a:rPr>
              <a:t>29</a:t>
            </a:r>
          </a:p>
        </p:txBody>
      </p:sp>
      <p:sp>
        <p:nvSpPr>
          <p:cNvPr id="9" name="Curved Down Arrow 8"/>
          <p:cNvSpPr/>
          <p:nvPr/>
        </p:nvSpPr>
        <p:spPr>
          <a:xfrm rot="21100055" flipH="1">
            <a:off x="2742198" y="3378220"/>
            <a:ext cx="4055285" cy="88066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4867" y="5336682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 rot="652814">
            <a:off x="5540431" y="4542991"/>
            <a:ext cx="2879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</a:rPr>
              <a:t>Twenty Nine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0963" y="4191288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92" y="5936954"/>
            <a:ext cx="124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Mr Int.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832044" y="4815121"/>
            <a:ext cx="2348423" cy="1169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937358" y="4478282"/>
            <a:ext cx="1830885" cy="76700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36117" y="2275423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Num1</a:t>
            </a:r>
          </a:p>
        </p:txBody>
      </p:sp>
      <p:sp>
        <p:nvSpPr>
          <p:cNvPr id="28" name="TextBox 27"/>
          <p:cNvSpPr txBox="1"/>
          <p:nvPr/>
        </p:nvSpPr>
        <p:spPr>
          <a:xfrm rot="652814">
            <a:off x="6180948" y="1952257"/>
            <a:ext cx="2879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</a:rPr>
              <a:t>Twenty Nine</a:t>
            </a:r>
          </a:p>
        </p:txBody>
      </p:sp>
      <p:sp>
        <p:nvSpPr>
          <p:cNvPr id="29" name="Curved Down Arrow 28"/>
          <p:cNvSpPr/>
          <p:nvPr/>
        </p:nvSpPr>
        <p:spPr>
          <a:xfrm rot="21100055" flipH="1">
            <a:off x="4759223" y="1439202"/>
            <a:ext cx="1836673" cy="51740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Oval Callout 22"/>
          <p:cNvSpPr/>
          <p:nvPr/>
        </p:nvSpPr>
        <p:spPr>
          <a:xfrm>
            <a:off x="3455871" y="3834273"/>
            <a:ext cx="1634248" cy="1392322"/>
          </a:xfrm>
          <a:prstGeom prst="wedgeEllipseCallout">
            <a:avLst>
              <a:gd name="adj1" fmla="val 47663"/>
              <a:gd name="adj2" fmla="val 767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I’m telling the computer that this variable contains a number not a word!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1439" t="13403" r="51961" b="82025"/>
          <a:stretch/>
        </p:blipFill>
        <p:spPr>
          <a:xfrm>
            <a:off x="435343" y="985838"/>
            <a:ext cx="5832648" cy="32339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4"/>
          <a:srcRect l="1440" t="25103" r="79000" b="69805"/>
          <a:stretch/>
        </p:blipFill>
        <p:spPr>
          <a:xfrm>
            <a:off x="505562" y="3228344"/>
            <a:ext cx="2833417" cy="41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6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  <p:bldP spid="11" grpId="0"/>
      <p:bldP spid="12" grpId="0"/>
      <p:bldP spid="13" grpId="0"/>
      <p:bldP spid="14" grpId="0"/>
      <p:bldP spid="27" grpId="0"/>
      <p:bldP spid="28" grpId="0"/>
      <p:bldP spid="29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111" y="4330898"/>
            <a:ext cx="1134156" cy="825807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61" y="5600443"/>
            <a:ext cx="1134156" cy="8258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107" y="5548688"/>
            <a:ext cx="1087892" cy="94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Once they have been converted we’re ready to do maths!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227106" y="1913758"/>
            <a:ext cx="2539151" cy="1028534"/>
            <a:chOff x="6227106" y="1913758"/>
            <a:chExt cx="2539151" cy="1028534"/>
          </a:xfrm>
        </p:grpSpPr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2101" y="2116485"/>
              <a:ext cx="1134156" cy="825807"/>
            </a:xfrm>
            <a:prstGeom prst="rect">
              <a:avLst/>
            </a:prstGeom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7106" y="2107902"/>
              <a:ext cx="1134156" cy="825807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404562" y="2330549"/>
              <a:ext cx="709081" cy="284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Num1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 rot="652814">
              <a:off x="6518217" y="1913758"/>
              <a:ext cx="487662" cy="261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chemeClr val="tx2">
                      <a:lumMod val="50000"/>
                    </a:schemeClr>
                  </a:solidFill>
                </a:rPr>
                <a:t>Five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740093" y="2330548"/>
              <a:ext cx="709081" cy="284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Num2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 rot="652814">
              <a:off x="7866696" y="1940364"/>
              <a:ext cx="540317" cy="261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chemeClr val="tx2">
                      <a:lumMod val="50000"/>
                    </a:schemeClr>
                  </a:solidFill>
                </a:rPr>
                <a:t>Nine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106" y="3133185"/>
            <a:ext cx="2529602" cy="965904"/>
            <a:chOff x="6227106" y="3133185"/>
            <a:chExt cx="2529602" cy="965904"/>
          </a:xfrm>
        </p:grpSpPr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2552" y="3273282"/>
              <a:ext cx="1134156" cy="825807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7106" y="3252167"/>
              <a:ext cx="1134156" cy="82580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6381332" y="3549976"/>
              <a:ext cx="709081" cy="284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Num1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652814">
              <a:off x="6494987" y="3133185"/>
              <a:ext cx="487662" cy="261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chemeClr val="tx2">
                      <a:lumMod val="50000"/>
                    </a:schemeClr>
                  </a:solidFill>
                </a:rPr>
                <a:t>Five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16863" y="3549975"/>
              <a:ext cx="709081" cy="284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Num2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 rot="652814">
              <a:off x="7843466" y="3159791"/>
              <a:ext cx="540317" cy="261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chemeClr val="tx2">
                      <a:lumMod val="50000"/>
                    </a:schemeClr>
                  </a:solidFill>
                </a:rPr>
                <a:t>Nine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 rot="652814">
            <a:off x="6741877" y="2825740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2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 rot="652814">
            <a:off x="8116683" y="2852346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2">
                    <a:lumMod val="50000"/>
                  </a:schemeClr>
                </a:solidFill>
              </a:rPr>
              <a:t>9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6517154" y="3189573"/>
            <a:ext cx="554061" cy="1674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639083" y="3126864"/>
            <a:ext cx="360700" cy="32916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7912600" y="3218308"/>
            <a:ext cx="554061" cy="1674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034529" y="3155599"/>
            <a:ext cx="360700" cy="32916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 rot="652814">
            <a:off x="7802823" y="4564635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2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 rot="652814">
            <a:off x="8413326" y="4564636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2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2683" y="455913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6695" y="4590099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Answer</a:t>
            </a:r>
          </a:p>
        </p:txBody>
      </p:sp>
      <p:sp>
        <p:nvSpPr>
          <p:cNvPr id="39" name="Curved Down Arrow 38"/>
          <p:cNvSpPr/>
          <p:nvPr/>
        </p:nvSpPr>
        <p:spPr>
          <a:xfrm rot="550607" flipH="1">
            <a:off x="6749094" y="4091555"/>
            <a:ext cx="1625058" cy="39474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 rot="652814">
            <a:off x="6612737" y="4311420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2">
                    <a:lumMod val="50000"/>
                  </a:schemeClr>
                </a:solidFill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6694" y="5928344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Answer</a:t>
            </a:r>
          </a:p>
        </p:txBody>
      </p:sp>
      <p:sp>
        <p:nvSpPr>
          <p:cNvPr id="43" name="TextBox 42"/>
          <p:cNvSpPr txBox="1"/>
          <p:nvPr/>
        </p:nvSpPr>
        <p:spPr>
          <a:xfrm rot="652814">
            <a:off x="6612737" y="5497543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2">
                    <a:lumMod val="50000"/>
                  </a:schemeClr>
                </a:solidFill>
              </a:rPr>
              <a:t>14</a:t>
            </a:r>
          </a:p>
        </p:txBody>
      </p:sp>
      <p:sp>
        <p:nvSpPr>
          <p:cNvPr id="44" name="Curved Down Arrow 43"/>
          <p:cNvSpPr/>
          <p:nvPr/>
        </p:nvSpPr>
        <p:spPr>
          <a:xfrm>
            <a:off x="6763604" y="5134906"/>
            <a:ext cx="1620466" cy="39474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50196" y="5560779"/>
            <a:ext cx="692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14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4"/>
          <a:srcRect l="1270" t="13442" r="43074" b="48315"/>
          <a:stretch/>
        </p:blipFill>
        <p:spPr>
          <a:xfrm>
            <a:off x="566309" y="2422881"/>
            <a:ext cx="5370750" cy="219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0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4" grpId="0"/>
      <p:bldP spid="35" grpId="0"/>
      <p:bldP spid="36" grpId="0"/>
      <p:bldP spid="38" grpId="0"/>
      <p:bldP spid="39" grpId="0" animBg="1"/>
      <p:bldP spid="40" grpId="0"/>
      <p:bldP spid="42" grpId="0"/>
      <p:bldP spid="43" grpId="0"/>
      <p:bldP spid="44" grpId="0" animBg="1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08920"/>
            <a:ext cx="8592168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/>
              <a:t>Decisions (Selection)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9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Decisions in Python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u="sng" dirty="0"/>
              <a:t>The Virtual Barman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dirty="0"/>
              <a:t>What would be needed to make a program which: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i="1" dirty="0"/>
              <a:t>Acted like a barman, who had to make the decision on whether or not to serve the customer based on their age?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3937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Program At Work…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211960" y="2924944"/>
            <a:ext cx="72008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364088" y="2924944"/>
            <a:ext cx="72008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796136" y="3789040"/>
            <a:ext cx="63624" cy="2076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995936" y="3789040"/>
            <a:ext cx="72008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852982">
            <a:off x="4809126" y="4480304"/>
            <a:ext cx="122982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800" dirty="0">
                <a:solidFill>
                  <a:srgbClr val="FF0000"/>
                </a:solidFill>
              </a:rPr>
              <a:t>?</a:t>
            </a:r>
            <a:endParaRPr lang="en-US" sz="138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53074" y="5334170"/>
            <a:ext cx="1298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solidFill>
                  <a:srgbClr val="FF0000"/>
                </a:solidFill>
              </a:rPr>
              <a:t>How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885705-8B97-4201-BE8D-3607EA6D2F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03" r="67683" b="76383"/>
          <a:stretch/>
        </p:blipFill>
        <p:spPr>
          <a:xfrm>
            <a:off x="3690476" y="1911797"/>
            <a:ext cx="2105660" cy="8650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5763F1-ED47-4781-91FE-91E0343550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5" t="14588" r="64100" b="79533"/>
          <a:stretch/>
        </p:blipFill>
        <p:spPr>
          <a:xfrm>
            <a:off x="2288747" y="3243891"/>
            <a:ext cx="2267104" cy="4031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FD0381-40D0-4F72-8FE8-CA9D7FB322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3" t="14300" r="55526" b="74283"/>
          <a:stretch/>
        </p:blipFill>
        <p:spPr>
          <a:xfrm>
            <a:off x="1575758" y="4193218"/>
            <a:ext cx="2808312" cy="7829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4CA7A2-90D7-47B9-A732-701D691AE7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" t="13250" r="67683" b="79533"/>
          <a:stretch/>
        </p:blipFill>
        <p:spPr>
          <a:xfrm>
            <a:off x="4966556" y="3193934"/>
            <a:ext cx="2088232" cy="4949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490237-F19B-4918-BF2F-1555CBAF35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73" t="15350" r="65472" b="75200"/>
          <a:stretch/>
        </p:blipFill>
        <p:spPr>
          <a:xfrm>
            <a:off x="5364088" y="4160636"/>
            <a:ext cx="2160240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8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would we start?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would the barman do?</a:t>
            </a:r>
          </a:p>
          <a:p>
            <a:pPr marL="0" indent="0" algn="ctr">
              <a:buNone/>
            </a:pPr>
            <a:r>
              <a:rPr lang="en-GB" i="1" dirty="0">
                <a:solidFill>
                  <a:srgbClr val="FF0000"/>
                </a:solidFill>
              </a:rPr>
              <a:t>Ask the customer for their age</a:t>
            </a:r>
          </a:p>
          <a:p>
            <a:r>
              <a:rPr lang="en-GB" dirty="0"/>
              <a:t>What must our program do?</a:t>
            </a:r>
          </a:p>
          <a:p>
            <a:pPr marL="0" indent="0" algn="ctr">
              <a:buNone/>
            </a:pPr>
            <a:r>
              <a:rPr lang="en-GB" i="1" dirty="0">
                <a:solidFill>
                  <a:srgbClr val="FF0000"/>
                </a:solidFill>
              </a:rPr>
              <a:t>Ask the user for their age!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How?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FF0000"/>
                </a:solidFill>
              </a:rPr>
              <a:t>age = input(“What is your age?”)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30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and Integers?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488" y="1403648"/>
            <a:ext cx="8602512" cy="4610057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solidFill>
                  <a:srgbClr val="FF0000"/>
                </a:solidFill>
              </a:rPr>
              <a:t>age = input(“What is your age?”)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python is to work with numbers what must we do to the input?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FF0000"/>
                </a:solidFill>
              </a:rPr>
              <a:t>Convert the variable (age) to an integer data type!</a:t>
            </a:r>
          </a:p>
          <a:p>
            <a:pPr marL="0" indent="0">
              <a:buNone/>
            </a:pPr>
            <a:r>
              <a:rPr lang="en-GB" dirty="0"/>
              <a:t>How?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FF0000"/>
                </a:solidFill>
              </a:rPr>
              <a:t>age = </a:t>
            </a:r>
            <a:r>
              <a:rPr lang="en-GB" dirty="0" err="1">
                <a:solidFill>
                  <a:srgbClr val="002060"/>
                </a:solidFill>
              </a:rPr>
              <a:t>int</a:t>
            </a:r>
            <a:r>
              <a:rPr lang="en-GB" dirty="0">
                <a:solidFill>
                  <a:srgbClr val="002060"/>
                </a:solidFill>
              </a:rPr>
              <a:t>(</a:t>
            </a:r>
            <a:r>
              <a:rPr lang="en-GB" dirty="0">
                <a:solidFill>
                  <a:srgbClr val="FF0000"/>
                </a:solidFill>
              </a:rPr>
              <a:t>age</a:t>
            </a:r>
            <a:r>
              <a:rPr lang="en-GB" dirty="0">
                <a:solidFill>
                  <a:srgbClr val="002060"/>
                </a:solidFill>
              </a:rPr>
              <a:t>)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89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the real barman was told the customers age what would the barman do next?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6000" dirty="0">
                <a:solidFill>
                  <a:srgbClr val="FF0000"/>
                </a:solidFill>
              </a:rPr>
              <a:t>MAKE A DECISION!</a:t>
            </a:r>
            <a:endParaRPr 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67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592168" cy="836712"/>
          </a:xfrm>
        </p:spPr>
        <p:txBody>
          <a:bodyPr>
            <a:normAutofit/>
          </a:bodyPr>
          <a:lstStyle/>
          <a:p>
            <a:r>
              <a:rPr lang="en-GB" dirty="0"/>
              <a:t>Selection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386" y="953345"/>
            <a:ext cx="8602512" cy="2475656"/>
          </a:xfrm>
        </p:spPr>
        <p:txBody>
          <a:bodyPr/>
          <a:lstStyle/>
          <a:p>
            <a:r>
              <a:rPr lang="en-GB" dirty="0"/>
              <a:t>If we want the computer to make a decision based on our input we use “selection”.</a:t>
            </a:r>
          </a:p>
          <a:p>
            <a:r>
              <a:rPr lang="en-GB" dirty="0"/>
              <a:t>Selection uses </a:t>
            </a:r>
            <a:r>
              <a:rPr lang="en-GB" b="1" dirty="0">
                <a:solidFill>
                  <a:srgbClr val="FF0000"/>
                </a:solidFill>
              </a:rPr>
              <a:t>If – Else </a:t>
            </a:r>
            <a:r>
              <a:rPr lang="en-GB" dirty="0"/>
              <a:t>statements</a:t>
            </a:r>
          </a:p>
          <a:p>
            <a:pPr marL="0" indent="0" algn="ctr">
              <a:buNone/>
            </a:pPr>
            <a:endParaRPr lang="en-GB" sz="16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7452320" y="5125999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Outcome 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661248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Outcome 2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955" y="3280189"/>
            <a:ext cx="5529551" cy="282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4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9" y="2511463"/>
            <a:ext cx="3048000" cy="2171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92168" cy="793170"/>
          </a:xfrm>
        </p:spPr>
        <p:txBody>
          <a:bodyPr/>
          <a:lstStyle/>
          <a:p>
            <a:r>
              <a:rPr lang="en-GB" dirty="0"/>
              <a:t>Our Program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64412" y="2949925"/>
            <a:ext cx="3096344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IF</a:t>
            </a:r>
            <a:r>
              <a:rPr lang="en-GB" dirty="0"/>
              <a:t> age &gt; 17 do this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ELSE</a:t>
            </a:r>
            <a:r>
              <a:rPr lang="en-GB" dirty="0"/>
              <a:t>, do that</a:t>
            </a:r>
            <a:endParaRPr lang="en-US" dirty="0"/>
          </a:p>
        </p:txBody>
      </p:sp>
      <p:cxnSp>
        <p:nvCxnSpPr>
          <p:cNvPr id="6" name="Elbow Connector 5"/>
          <p:cNvCxnSpPr/>
          <p:nvPr/>
        </p:nvCxnSpPr>
        <p:spPr>
          <a:xfrm>
            <a:off x="6073636" y="3182877"/>
            <a:ext cx="1152128" cy="72008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 rot="10800000" flipV="1">
            <a:off x="1999404" y="3563871"/>
            <a:ext cx="1204442" cy="67817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Down Arrow 7"/>
          <p:cNvSpPr/>
          <p:nvPr/>
        </p:nvSpPr>
        <p:spPr>
          <a:xfrm>
            <a:off x="4360556" y="1800731"/>
            <a:ext cx="504056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91680" y="4933032"/>
            <a:ext cx="662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IF – ELSE </a:t>
            </a:r>
            <a:r>
              <a:rPr lang="en-GB" dirty="0"/>
              <a:t>statements allow programs to make decisions based on certain conditions occurring.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515168" y="1338916"/>
            <a:ext cx="219483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What is your age?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085073" y="3521065"/>
            <a:ext cx="1918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“What can I get you?”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09522" y="3807303"/>
            <a:ext cx="1918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“Go home boy!”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864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8EFF76-68A6-4839-864F-18B05C59F5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4624" r="47616" b="73271"/>
          <a:stretch/>
        </p:blipFill>
        <p:spPr>
          <a:xfrm>
            <a:off x="1547664" y="2377881"/>
            <a:ext cx="6840760" cy="30383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are decisions programmed in Python?</a:t>
            </a:r>
            <a:endParaRPr lang="en-US" dirty="0"/>
          </a:p>
        </p:txBody>
      </p:sp>
      <p:sp>
        <p:nvSpPr>
          <p:cNvPr id="5" name="Left Brace 4"/>
          <p:cNvSpPr/>
          <p:nvPr/>
        </p:nvSpPr>
        <p:spPr>
          <a:xfrm>
            <a:off x="1547664" y="3427258"/>
            <a:ext cx="194399" cy="1153869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266407" y="3264808"/>
            <a:ext cx="14036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When you use selection statements you must indent accordingly.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803128" y="3247239"/>
            <a:ext cx="1440160" cy="18002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708031" y="3247239"/>
            <a:ext cx="2535257" cy="75608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20578" y="2941642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FF0000"/>
                </a:solidFill>
              </a:rPr>
              <a:t>Colons are needed at the end of each IF and ELSE statement</a:t>
            </a:r>
          </a:p>
        </p:txBody>
      </p:sp>
    </p:spTree>
    <p:extLst>
      <p:ext uri="{BB962C8B-B14F-4D97-AF65-F5344CB8AC3E}">
        <p14:creationId xmlns:p14="http://schemas.microsoft.com/office/powerpoint/2010/main" val="77509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 how can we program our Barman Program?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628800"/>
            <a:ext cx="8193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Write down your code on a whiteboard!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60972" y="3093663"/>
            <a:ext cx="1484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 Solution:</a:t>
            </a:r>
            <a:endParaRPr lang="en-US" sz="2000" b="1" dirty="0"/>
          </a:p>
        </p:txBody>
      </p:sp>
      <p:grpSp>
        <p:nvGrpSpPr>
          <p:cNvPr id="44" name="Group 43"/>
          <p:cNvGrpSpPr/>
          <p:nvPr/>
        </p:nvGrpSpPr>
        <p:grpSpPr>
          <a:xfrm>
            <a:off x="538948" y="2952328"/>
            <a:ext cx="3109595" cy="3220730"/>
            <a:chOff x="587191" y="2572938"/>
            <a:chExt cx="3109595" cy="3220730"/>
          </a:xfrm>
        </p:grpSpPr>
        <p:sp>
          <p:nvSpPr>
            <p:cNvPr id="7" name="Flowchart: Terminator 6"/>
            <p:cNvSpPr/>
            <p:nvPr/>
          </p:nvSpPr>
          <p:spPr>
            <a:xfrm>
              <a:off x="717333" y="2572938"/>
              <a:ext cx="1323892" cy="283677"/>
            </a:xfrm>
            <a:prstGeom prst="flowChartTermina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START</a:t>
              </a:r>
              <a:endParaRPr lang="en-US" sz="1400" dirty="0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587191" y="3015841"/>
              <a:ext cx="1584176" cy="399348"/>
            </a:xfrm>
            <a:prstGeom prst="flowChartInputOutpu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Age?</a:t>
              </a:r>
              <a:endParaRPr lang="en-US" sz="1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195" y="3556784"/>
              <a:ext cx="1512168" cy="49334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Convert to Integer</a:t>
              </a:r>
              <a:endParaRPr lang="en-US" sz="1400" dirty="0"/>
            </a:p>
          </p:txBody>
        </p:sp>
        <p:sp>
          <p:nvSpPr>
            <p:cNvPr id="10" name="Flowchart: Decision 9"/>
            <p:cNvSpPr/>
            <p:nvPr/>
          </p:nvSpPr>
          <p:spPr>
            <a:xfrm>
              <a:off x="659199" y="4191722"/>
              <a:ext cx="1440160" cy="792088"/>
            </a:xfrm>
            <a:prstGeom prst="flowChartDecis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IF Age &gt; 17</a:t>
              </a:r>
              <a:endParaRPr lang="en-US" sz="1200" dirty="0"/>
            </a:p>
          </p:txBody>
        </p:sp>
        <p:sp>
          <p:nvSpPr>
            <p:cNvPr id="11" name="Flowchart: Data 10"/>
            <p:cNvSpPr/>
            <p:nvPr/>
          </p:nvSpPr>
          <p:spPr>
            <a:xfrm>
              <a:off x="587191" y="5145596"/>
              <a:ext cx="1584176" cy="648072"/>
            </a:xfrm>
            <a:prstGeom prst="flowChartInputOutpu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50" dirty="0"/>
                <a:t>DISPLAY “Go home boy!”</a:t>
              </a:r>
              <a:endParaRPr lang="en-US" sz="1050" dirty="0"/>
            </a:p>
          </p:txBody>
        </p:sp>
        <p:sp>
          <p:nvSpPr>
            <p:cNvPr id="12" name="Flowchart: Data 11"/>
            <p:cNvSpPr/>
            <p:nvPr/>
          </p:nvSpPr>
          <p:spPr>
            <a:xfrm>
              <a:off x="2112610" y="4267551"/>
              <a:ext cx="1584176" cy="648072"/>
            </a:xfrm>
            <a:prstGeom prst="flowChartInputOutpu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50" dirty="0"/>
                <a:t>DISPLAY “What can I get you young sir?”</a:t>
              </a:r>
              <a:endParaRPr lang="en-US" sz="1050" dirty="0"/>
            </a:p>
          </p:txBody>
        </p:sp>
        <p:cxnSp>
          <p:nvCxnSpPr>
            <p:cNvPr id="14" name="Straight Arrow Connector 13"/>
            <p:cNvCxnSpPr>
              <a:stCxn id="7" idx="2"/>
              <a:endCxn id="8" idx="1"/>
            </p:cNvCxnSpPr>
            <p:nvPr/>
          </p:nvCxnSpPr>
          <p:spPr>
            <a:xfrm>
              <a:off x="1379279" y="2856615"/>
              <a:ext cx="0" cy="1592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4"/>
              <a:endCxn id="9" idx="0"/>
            </p:cNvCxnSpPr>
            <p:nvPr/>
          </p:nvCxnSpPr>
          <p:spPr>
            <a:xfrm>
              <a:off x="1379279" y="3415189"/>
              <a:ext cx="0" cy="1415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2"/>
              <a:endCxn id="10" idx="0"/>
            </p:cNvCxnSpPr>
            <p:nvPr/>
          </p:nvCxnSpPr>
          <p:spPr>
            <a:xfrm>
              <a:off x="1379279" y="4050127"/>
              <a:ext cx="0" cy="1415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3"/>
              <a:endCxn id="12" idx="2"/>
            </p:cNvCxnSpPr>
            <p:nvPr/>
          </p:nvCxnSpPr>
          <p:spPr>
            <a:xfrm>
              <a:off x="2099359" y="4587766"/>
              <a:ext cx="171669" cy="3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0" idx="2"/>
              <a:endCxn id="11" idx="1"/>
            </p:cNvCxnSpPr>
            <p:nvPr/>
          </p:nvCxnSpPr>
          <p:spPr>
            <a:xfrm>
              <a:off x="1379279" y="4983810"/>
              <a:ext cx="0" cy="1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403539" y="2533790"/>
            <a:ext cx="2452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A Flowchart to Help!</a:t>
            </a:r>
            <a:endParaRPr lang="en-US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1BBC64-DAFA-4E24-9810-97543B4BA0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633" b="62774"/>
          <a:stretch/>
        </p:blipFill>
        <p:spPr>
          <a:xfrm>
            <a:off x="4067944" y="3646003"/>
            <a:ext cx="4193892" cy="255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2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In IF statements we will be looking to compare some data.</a:t>
            </a:r>
          </a:p>
          <a:p>
            <a:pPr lvl="1"/>
            <a:r>
              <a:rPr lang="en-GB" dirty="0"/>
              <a:t>We might want to see if a variable is equal to a number or a piece of text.</a:t>
            </a:r>
          </a:p>
          <a:p>
            <a:pPr lvl="1"/>
            <a:r>
              <a:rPr lang="en-GB" dirty="0"/>
              <a:t>We might want to see if a variable contains a number greater than another</a:t>
            </a:r>
          </a:p>
          <a:p>
            <a:pPr lvl="1"/>
            <a:r>
              <a:rPr lang="en-GB" dirty="0"/>
              <a:t>Or contains a number smaller than another.</a:t>
            </a:r>
          </a:p>
          <a:p>
            <a:pPr lvl="1"/>
            <a:endParaRPr lang="en-GB" dirty="0"/>
          </a:p>
          <a:p>
            <a:r>
              <a:rPr lang="en-GB" dirty="0"/>
              <a:t>In python we use certain symbols to compare data.</a:t>
            </a:r>
          </a:p>
          <a:p>
            <a:pPr lvl="1"/>
            <a:r>
              <a:rPr lang="en-GB" dirty="0"/>
              <a:t>To see if something is mathematically equal to another we use a double equals sign (==)</a:t>
            </a:r>
          </a:p>
          <a:p>
            <a:pPr lvl="1"/>
            <a:r>
              <a:rPr lang="en-GB" dirty="0"/>
              <a:t>To see if a variable contains a number greater than another we use the greater than symbol (&gt;)</a:t>
            </a:r>
          </a:p>
          <a:p>
            <a:pPr lvl="1"/>
            <a:r>
              <a:rPr lang="en-GB" dirty="0"/>
              <a:t>To see if a variable contains a number smaller than another we use the less than symbol (&lt;)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9614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do these two pieces of code differ?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98FBED-FA60-426A-A572-07E4AD8C5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4851" r="40053" b="67849"/>
          <a:stretch/>
        </p:blipFill>
        <p:spPr>
          <a:xfrm>
            <a:off x="755576" y="1696244"/>
            <a:ext cx="4366058" cy="2092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7CAC2C-D9FA-4758-AACC-49BE2ACFE4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00" r="45579" b="77300"/>
          <a:stretch/>
        </p:blipFill>
        <p:spPr>
          <a:xfrm>
            <a:off x="4067944" y="4081636"/>
            <a:ext cx="472776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49995"/>
            <a:ext cx="8592168" cy="1143000"/>
          </a:xfrm>
        </p:spPr>
        <p:txBody>
          <a:bodyPr/>
          <a:lstStyle/>
          <a:p>
            <a:r>
              <a:rPr lang="en-GB" u="sng" dirty="0"/>
              <a:t>Tasks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602512" cy="5229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Create your own BARMAN program using </a:t>
            </a:r>
            <a:r>
              <a:rPr lang="en-GB" b="1" dirty="0"/>
              <a:t>IF Statements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Comment your code!! Using </a:t>
            </a:r>
            <a:r>
              <a:rPr lang="en-GB" b="1" dirty="0">
                <a:solidFill>
                  <a:srgbClr val="FF0000"/>
                </a:solidFill>
              </a:rPr>
              <a:t># comments</a:t>
            </a:r>
          </a:p>
          <a:p>
            <a:pPr marL="514350" indent="-514350">
              <a:buFont typeface="+mj-lt"/>
              <a:buAutoNum type="arabicPeriod"/>
            </a:pPr>
            <a:endParaRPr lang="en-GB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Have a go at the challenges in OneNote.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Work through the worksheet producing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984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1041</TotalTime>
  <Words>722</Words>
  <Application>Microsoft Office PowerPoint</Application>
  <PresentationFormat>On-screen Show (4:3)</PresentationFormat>
  <Paragraphs>137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Century Gothic</vt:lpstr>
      <vt:lpstr>Office Theme</vt:lpstr>
      <vt:lpstr>From Scratch to Python</vt:lpstr>
      <vt:lpstr>Lesson Objectives</vt:lpstr>
      <vt:lpstr>Starter  On your white boards, write a program which asks the user for two numbers, adds then together, then displays the result.</vt:lpstr>
      <vt:lpstr>Can you tell me the following…?</vt:lpstr>
      <vt:lpstr>Dealing with numbers in Python The need to convert “Data Types”</vt:lpstr>
      <vt:lpstr>What’s going on?</vt:lpstr>
      <vt:lpstr>Once they have been converted we’re ready to do maths!</vt:lpstr>
      <vt:lpstr>Decisions (Selection)</vt:lpstr>
      <vt:lpstr>Decisions in Python Programs</vt:lpstr>
      <vt:lpstr>The Program At Work…</vt:lpstr>
      <vt:lpstr>How would we start?</vt:lpstr>
      <vt:lpstr>Python and Integers?</vt:lpstr>
      <vt:lpstr>What next?</vt:lpstr>
      <vt:lpstr>Selection </vt:lpstr>
      <vt:lpstr>Our Program</vt:lpstr>
      <vt:lpstr>How are decisions programmed in Python?</vt:lpstr>
      <vt:lpstr>So how can we program our Barman Program?</vt:lpstr>
      <vt:lpstr>Comparison Operators</vt:lpstr>
      <vt:lpstr>How do these two pieces of code differ?</vt:lpstr>
      <vt:lpstr>Tasks</vt:lpstr>
    </vt:vector>
  </TitlesOfParts>
  <Company>Sidmouth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S Wickins</dc:creator>
  <cp:lastModifiedBy>Dominick Allgood</cp:lastModifiedBy>
  <cp:revision>118</cp:revision>
  <cp:lastPrinted>2014-01-08T08:31:11Z</cp:lastPrinted>
  <dcterms:created xsi:type="dcterms:W3CDTF">2013-06-03T08:01:30Z</dcterms:created>
  <dcterms:modified xsi:type="dcterms:W3CDTF">2018-05-25T09:03:07Z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459015</vt:lpwstr>
  </property>
  <property fmtid="{D5CDD505-2E9C-101B-9397-08002B2CF9AE}" pid="3" name="NXPowerLiteSettings">
    <vt:lpwstr>C74006B004C800</vt:lpwstr>
  </property>
  <property fmtid="{D5CDD505-2E9C-101B-9397-08002B2CF9AE}" pid="4" name="NXPowerLiteVersion">
    <vt:lpwstr>S6.1.0</vt:lpwstr>
  </property>
</Properties>
</file>