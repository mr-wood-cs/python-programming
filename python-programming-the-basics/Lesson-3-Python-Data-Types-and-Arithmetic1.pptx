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7" r:id="rId2"/>
    <p:sldId id="319" r:id="rId3"/>
    <p:sldId id="268" r:id="rId4"/>
    <p:sldId id="310" r:id="rId5"/>
    <p:sldId id="289" r:id="rId6"/>
    <p:sldId id="320" r:id="rId7"/>
    <p:sldId id="321" r:id="rId8"/>
    <p:sldId id="309" r:id="rId9"/>
    <p:sldId id="316" r:id="rId10"/>
    <p:sldId id="312" r:id="rId11"/>
    <p:sldId id="313" r:id="rId12"/>
    <p:sldId id="314" r:id="rId13"/>
    <p:sldId id="315" r:id="rId14"/>
    <p:sldId id="311" r:id="rId15"/>
    <p:sldId id="317" r:id="rId16"/>
    <p:sldId id="318" r:id="rId17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94660"/>
  </p:normalViewPr>
  <p:slideViewPr>
    <p:cSldViewPr>
      <p:cViewPr varScale="1">
        <p:scale>
          <a:sx n="67" d="100"/>
          <a:sy n="67" d="100"/>
        </p:scale>
        <p:origin x="1548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E99A9-B99E-420F-9021-5490202BBDB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Sidmouth College Computer Studies Department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C6AB2-E972-471A-8A00-AEA8AD547B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5211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DBEF-E7F9-43A9-AE87-E7E0C46BE106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Sidmouth College Computer Studies Department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27FFD-109F-4175-8055-DFA41E4343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7992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985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302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86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57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15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65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3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65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49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26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</p:spPr>
        <p:txBody>
          <a:bodyPr/>
          <a:lstStyle/>
          <a:p>
            <a:fld id="{58923EEC-0D63-432B-B213-214F9A9D98D4}" type="datetimeFigureOut">
              <a:rPr lang="en-GB" smtClean="0"/>
              <a:t>24/05/2018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2CD1AD-4CFA-41AE-B456-70CE516DA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64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602512" cy="4610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-322" y="0"/>
            <a:ext cx="323528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35299"/>
            <a:ext cx="1522512" cy="377582"/>
          </a:xfrm>
          <a:prstGeom prst="rect">
            <a:avLst/>
          </a:prstGeom>
        </p:spPr>
      </p:pic>
      <p:sp>
        <p:nvSpPr>
          <p:cNvPr id="9" name="TextBox 4"/>
          <p:cNvSpPr txBox="1"/>
          <p:nvPr userDrawn="1"/>
        </p:nvSpPr>
        <p:spPr>
          <a:xfrm>
            <a:off x="6186810" y="6406809"/>
            <a:ext cx="2872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 smtClean="0"/>
              <a:t>www.computerscienceuk.com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31631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From Scratch to Python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 smtClean="0"/>
              <a:t>Learn to program like the big boys / girls!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87677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Starter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Please open your Python program from last lesson</a:t>
            </a:r>
          </a:p>
          <a:p>
            <a:endParaRPr lang="en-GB" dirty="0"/>
          </a:p>
          <a:p>
            <a:r>
              <a:rPr lang="en-GB" dirty="0" smtClean="0"/>
              <a:t>You should have at least 3 inputs, 3 variables and 3 outputs (print statements)</a:t>
            </a:r>
          </a:p>
          <a:p>
            <a:endParaRPr lang="en-GB" dirty="0" smtClean="0"/>
          </a:p>
          <a:p>
            <a:r>
              <a:rPr lang="en-GB" dirty="0" smtClean="0"/>
              <a:t>You have the first 5 minutes of the lesson to finish or make improvements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012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92168" cy="864096"/>
          </a:xfrm>
        </p:spPr>
        <p:txBody>
          <a:bodyPr/>
          <a:lstStyle/>
          <a:p>
            <a:r>
              <a:rPr lang="en-GB" dirty="0" smtClean="0"/>
              <a:t>Lesson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602512" cy="3312368"/>
          </a:xfrm>
        </p:spPr>
        <p:txBody>
          <a:bodyPr>
            <a:normAutofit fontScale="77500" lnSpcReduction="20000"/>
          </a:bodyPr>
          <a:lstStyle/>
          <a:p>
            <a:pPr marL="0" indent="0" fontAlgn="t">
              <a:buNone/>
            </a:pPr>
            <a:r>
              <a:rPr lang="en-GB" b="1" dirty="0" smtClean="0"/>
              <a:t>Lesson Objectives</a:t>
            </a:r>
          </a:p>
          <a:p>
            <a:r>
              <a:rPr lang="en-GB" dirty="0"/>
              <a:t>Understand </a:t>
            </a:r>
            <a:r>
              <a:rPr lang="en-GB" dirty="0" smtClean="0"/>
              <a:t>which data </a:t>
            </a:r>
            <a:r>
              <a:rPr lang="en-GB" dirty="0"/>
              <a:t>type </a:t>
            </a:r>
            <a:r>
              <a:rPr lang="en-GB" dirty="0" smtClean="0"/>
              <a:t>a </a:t>
            </a:r>
            <a:r>
              <a:rPr lang="en-GB" dirty="0"/>
              <a:t>variable </a:t>
            </a:r>
            <a:r>
              <a:rPr lang="en-GB" dirty="0" smtClean="0"/>
              <a:t>is.</a:t>
            </a:r>
            <a:endParaRPr lang="en-GB" dirty="0"/>
          </a:p>
          <a:p>
            <a:r>
              <a:rPr lang="en-GB" dirty="0"/>
              <a:t>Understand why a computer needs to know what the data type is for a given </a:t>
            </a:r>
            <a:r>
              <a:rPr lang="en-GB" dirty="0" smtClean="0"/>
              <a:t>input/variable.</a:t>
            </a:r>
            <a:endParaRPr lang="en-GB" dirty="0"/>
          </a:p>
          <a:p>
            <a:r>
              <a:rPr lang="en-GB" dirty="0"/>
              <a:t>Learn how to </a:t>
            </a:r>
            <a:r>
              <a:rPr lang="en-GB" dirty="0" smtClean="0"/>
              <a:t>change the data </a:t>
            </a:r>
            <a:r>
              <a:rPr lang="en-GB" dirty="0"/>
              <a:t>type </a:t>
            </a:r>
            <a:r>
              <a:rPr lang="en-GB" dirty="0" smtClean="0"/>
              <a:t>of a variable.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 fontAlgn="t">
              <a:buNone/>
            </a:pPr>
            <a:r>
              <a:rPr lang="en-GB" b="1" dirty="0" smtClean="0"/>
              <a:t>Lesson Outcomes</a:t>
            </a:r>
          </a:p>
          <a:p>
            <a:pPr fontAlgn="t"/>
            <a:r>
              <a:rPr lang="en-GB" dirty="0" smtClean="0"/>
              <a:t>Carry out a number of programming </a:t>
            </a:r>
            <a:r>
              <a:rPr lang="en-GB" dirty="0"/>
              <a:t>tasks to </a:t>
            </a:r>
            <a:r>
              <a:rPr lang="en-GB" dirty="0" smtClean="0"/>
              <a:t>practice </a:t>
            </a:r>
            <a:r>
              <a:rPr lang="en-GB" dirty="0"/>
              <a:t>programming simple arithmetic.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518263"/>
              </p:ext>
            </p:extLst>
          </p:nvPr>
        </p:nvGraphicFramePr>
        <p:xfrm>
          <a:off x="539552" y="4797152"/>
          <a:ext cx="83529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6696744"/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Literacy – Key Words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Input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Values which get sent from the user into the computer</a:t>
                      </a:r>
                      <a:endParaRPr lang="en-GB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Variable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The place</a:t>
                      </a:r>
                      <a:r>
                        <a:rPr lang="en-GB" sz="1600" baseline="0" dirty="0" smtClean="0"/>
                        <a:t> where inputs get stored by the program</a:t>
                      </a:r>
                      <a:endParaRPr lang="en-GB" sz="1600" dirty="0"/>
                    </a:p>
                  </a:txBody>
                  <a:tcPr/>
                </a:tc>
              </a:tr>
              <a:tr h="3276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Output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The values which get sent</a:t>
                      </a:r>
                      <a:r>
                        <a:rPr lang="en-GB" sz="1600" baseline="0" dirty="0" smtClean="0"/>
                        <a:t> from the computer to the user</a:t>
                      </a:r>
                      <a:endParaRPr lang="en-GB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36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375" y="1988840"/>
            <a:ext cx="8592168" cy="1143000"/>
          </a:xfrm>
        </p:spPr>
        <p:txBody>
          <a:bodyPr/>
          <a:lstStyle/>
          <a:p>
            <a:r>
              <a:rPr lang="en-GB" dirty="0" smtClean="0"/>
              <a:t>Review of last few lessons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02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Hands up if you can tell me the following…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602512" cy="461005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python code needed to display a word on the screen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python code needed to ask the user for an input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way python can store user inputs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634" y="2060848"/>
            <a:ext cx="477422" cy="5277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290" y="3180956"/>
            <a:ext cx="477422" cy="5277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290" y="4287224"/>
            <a:ext cx="477422" cy="52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8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31737" t="59844" r="48911" b="29281"/>
          <a:stretch/>
        </p:blipFill>
        <p:spPr>
          <a:xfrm>
            <a:off x="4954911" y="4937063"/>
            <a:ext cx="4080181" cy="128915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4876" t="61426" r="45705" b="34362"/>
          <a:stretch/>
        </p:blipFill>
        <p:spPr>
          <a:xfrm>
            <a:off x="4577662" y="3712381"/>
            <a:ext cx="4482050" cy="5465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t="3865" r="56757" b="84601"/>
          <a:stretch/>
        </p:blipFill>
        <p:spPr>
          <a:xfrm>
            <a:off x="5008669" y="1716186"/>
            <a:ext cx="3888431" cy="10916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Hands up if you can tell me the following…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772816"/>
            <a:ext cx="4415359" cy="4610057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python code needed to display a word on the screen?</a:t>
            </a:r>
          </a:p>
          <a:p>
            <a:pPr marL="514350" indent="-514350">
              <a:buFont typeface="+mj-lt"/>
              <a:buAutoNum type="arabicPeriod"/>
            </a:pP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python code needed to ask the user for an input?</a:t>
            </a:r>
          </a:p>
          <a:p>
            <a:pPr marL="514350" indent="-514350">
              <a:buFont typeface="+mj-lt"/>
              <a:buAutoNum type="arabicPeriod"/>
            </a:pP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way python can store user inputs?</a:t>
            </a:r>
            <a:endParaRPr lang="en-GB" dirty="0"/>
          </a:p>
        </p:txBody>
      </p:sp>
      <p:sp>
        <p:nvSpPr>
          <p:cNvPr id="5" name="Oval 4"/>
          <p:cNvSpPr/>
          <p:nvPr/>
        </p:nvSpPr>
        <p:spPr>
          <a:xfrm>
            <a:off x="5004048" y="1901097"/>
            <a:ext cx="1046719" cy="44778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4898492" y="3580657"/>
            <a:ext cx="1257830" cy="64807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954911" y="5173166"/>
            <a:ext cx="1046719" cy="44778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90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Programming Inputs &amp; Storing Inputs in </a:t>
            </a:r>
            <a:r>
              <a:rPr lang="en-GB" dirty="0" smtClean="0"/>
              <a:t>PYTHON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2050" y="1541369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 python: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1737" t="59844" r="41145" b="12594"/>
          <a:stretch/>
        </p:blipFill>
        <p:spPr>
          <a:xfrm>
            <a:off x="568351" y="2048422"/>
            <a:ext cx="4122812" cy="235589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085557">
            <a:off x="3714105" y="4227289"/>
            <a:ext cx="5040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28338" r="59933" b="45668"/>
          <a:stretch/>
        </p:blipFill>
        <p:spPr>
          <a:xfrm>
            <a:off x="4283968" y="4289300"/>
            <a:ext cx="4286149" cy="141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5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Commenting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1268760"/>
            <a:ext cx="612068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4800" dirty="0" smtClean="0">
                <a:solidFill>
                  <a:srgbClr val="FF0000"/>
                </a:solidFill>
              </a:rPr>
              <a:t>#</a:t>
            </a:r>
            <a:r>
              <a:rPr lang="en-GB" dirty="0" smtClean="0"/>
              <a:t>Starting a line with a hash will turn your text into a comment.</a:t>
            </a:r>
          </a:p>
          <a:p>
            <a:r>
              <a:rPr lang="en-GB" dirty="0" smtClean="0"/>
              <a:t>(It will be ignored by the program)</a:t>
            </a:r>
            <a:endParaRPr lang="en-US" dirty="0"/>
          </a:p>
        </p:txBody>
      </p:sp>
      <p:sp>
        <p:nvSpPr>
          <p:cNvPr id="6" name="Bent Arrow 5"/>
          <p:cNvSpPr/>
          <p:nvPr/>
        </p:nvSpPr>
        <p:spPr>
          <a:xfrm flipV="1">
            <a:off x="827584" y="2874414"/>
            <a:ext cx="2033096" cy="230425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440" t="7608" r="35653" b="67664"/>
          <a:stretch/>
        </p:blipFill>
        <p:spPr>
          <a:xfrm>
            <a:off x="2990145" y="3501008"/>
            <a:ext cx="5871441" cy="21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6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47664" y="1700808"/>
            <a:ext cx="6552728" cy="27392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4000" dirty="0"/>
              <a:t>Today</a:t>
            </a:r>
            <a:r>
              <a:rPr lang="en-GB" sz="4000" dirty="0" smtClean="0"/>
              <a:t>:</a:t>
            </a:r>
          </a:p>
          <a:p>
            <a:pPr algn="ctr"/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sz="4800" b="1" dirty="0"/>
              <a:t>Data Types and Arithmetic</a:t>
            </a:r>
          </a:p>
        </p:txBody>
      </p:sp>
    </p:spTree>
    <p:extLst>
      <p:ext uri="{BB962C8B-B14F-4D97-AF65-F5344CB8AC3E}">
        <p14:creationId xmlns:p14="http://schemas.microsoft.com/office/powerpoint/2010/main" val="10069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a data type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What different types of data are there?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 rot="21026145">
            <a:off x="468858" y="2408496"/>
            <a:ext cx="249604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String</a:t>
            </a:r>
          </a:p>
          <a:p>
            <a:pPr algn="ctr"/>
            <a:r>
              <a:rPr lang="en-GB" i="1" dirty="0" smtClean="0"/>
              <a:t>This means any combination of keyboard characters (letters, numbers symbols)</a:t>
            </a:r>
            <a:endParaRPr lang="en-GB" i="1" dirty="0"/>
          </a:p>
        </p:txBody>
      </p:sp>
      <p:sp>
        <p:nvSpPr>
          <p:cNvPr id="5" name="TextBox 4"/>
          <p:cNvSpPr txBox="1"/>
          <p:nvPr/>
        </p:nvSpPr>
        <p:spPr>
          <a:xfrm rot="391675">
            <a:off x="3235717" y="3348475"/>
            <a:ext cx="249604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Integer</a:t>
            </a:r>
          </a:p>
          <a:p>
            <a:pPr algn="ctr"/>
            <a:r>
              <a:rPr lang="en-GB" i="1" dirty="0" smtClean="0"/>
              <a:t>This means any whole number. If the computer knows the data is an integer it can do maths with the data</a:t>
            </a:r>
            <a:endParaRPr lang="en-GB" i="1" dirty="0"/>
          </a:p>
        </p:txBody>
      </p:sp>
      <p:sp>
        <p:nvSpPr>
          <p:cNvPr id="6" name="TextBox 5"/>
          <p:cNvSpPr txBox="1"/>
          <p:nvPr/>
        </p:nvSpPr>
        <p:spPr>
          <a:xfrm rot="21261451">
            <a:off x="6206111" y="2745593"/>
            <a:ext cx="24960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Real</a:t>
            </a:r>
          </a:p>
          <a:p>
            <a:pPr algn="ctr"/>
            <a:r>
              <a:rPr lang="en-GB" i="1" dirty="0" smtClean="0"/>
              <a:t>This means any decimal (fractional) number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32839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 smtClean="0"/>
              <a:t>The need to tell the computer what data type the variable will store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875" y="1671479"/>
            <a:ext cx="8435280" cy="4853865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Computers store values in variables</a:t>
            </a:r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In order for the computer to understand our inputs, it needs to </a:t>
            </a:r>
            <a:r>
              <a:rPr lang="en-GB" b="1" dirty="0" smtClean="0"/>
              <a:t>know</a:t>
            </a:r>
            <a:r>
              <a:rPr lang="en-GB" dirty="0" smtClean="0"/>
              <a:t> what </a:t>
            </a:r>
            <a:r>
              <a:rPr lang="en-GB" b="1" dirty="0" smtClean="0"/>
              <a:t>type of data </a:t>
            </a:r>
            <a:r>
              <a:rPr lang="en-GB" dirty="0" smtClean="0"/>
              <a:t>our input is</a:t>
            </a:r>
            <a:r>
              <a:rPr lang="en-GB" i="1" dirty="0" smtClean="0"/>
              <a:t>.</a:t>
            </a:r>
          </a:p>
          <a:p>
            <a:pPr>
              <a:buNone/>
            </a:pPr>
            <a:endParaRPr lang="en-GB" i="1" dirty="0" smtClean="0"/>
          </a:p>
          <a:p>
            <a:r>
              <a:rPr lang="en-GB" dirty="0" smtClean="0"/>
              <a:t>If a variable is to hold a </a:t>
            </a:r>
            <a:r>
              <a:rPr lang="en-GB" b="1" dirty="0" smtClean="0"/>
              <a:t>word</a:t>
            </a:r>
            <a:r>
              <a:rPr lang="en-GB" dirty="0" smtClean="0"/>
              <a:t>, we must tell the computer that the variable is to contain a </a:t>
            </a:r>
            <a:r>
              <a:rPr lang="en-GB" b="1" dirty="0" smtClean="0"/>
              <a:t>string</a:t>
            </a:r>
            <a:r>
              <a:rPr lang="en-GB" dirty="0" smtClean="0"/>
              <a:t>.</a:t>
            </a:r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If a variable is to hold a </a:t>
            </a:r>
            <a:r>
              <a:rPr lang="en-GB" b="1" dirty="0" smtClean="0"/>
              <a:t>whole number</a:t>
            </a:r>
            <a:r>
              <a:rPr lang="en-GB" dirty="0" smtClean="0"/>
              <a:t>, we must tell the computer that the variable is to contain an </a:t>
            </a:r>
            <a:r>
              <a:rPr lang="en-GB" b="1" dirty="0" smtClean="0"/>
              <a:t>integer</a:t>
            </a:r>
            <a:r>
              <a:rPr lang="en-GB" dirty="0" smtClean="0"/>
              <a:t> – so it can do calculations.</a:t>
            </a:r>
          </a:p>
          <a:p>
            <a:endParaRPr lang="en-GB" dirty="0" smtClean="0"/>
          </a:p>
          <a:p>
            <a:r>
              <a:rPr lang="en-GB" dirty="0" smtClean="0"/>
              <a:t>If we don’t do this the program will not work.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220" y="1556792"/>
            <a:ext cx="2999492" cy="132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Doing Arithmetic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02512" cy="4853136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If we want our program to work with numbers we must tell the program that certain variables will hold numbers.</a:t>
            </a:r>
          </a:p>
          <a:p>
            <a:endParaRPr lang="en-GB" dirty="0" smtClean="0"/>
          </a:p>
          <a:p>
            <a:r>
              <a:rPr lang="en-GB" dirty="0" smtClean="0"/>
              <a:t>When we input a number into our program</a:t>
            </a:r>
          </a:p>
          <a:p>
            <a:pPr marL="457200" lvl="1" indent="0" algn="ctr">
              <a:buNone/>
            </a:pPr>
            <a:r>
              <a:rPr lang="en-GB" dirty="0" smtClean="0">
                <a:solidFill>
                  <a:srgbClr val="FF0000"/>
                </a:solidFill>
              </a:rPr>
              <a:t>num1 = input(“please enter a number”)</a:t>
            </a:r>
          </a:p>
          <a:p>
            <a:pPr marL="457200" lvl="1" indent="0">
              <a:buNone/>
            </a:pPr>
            <a:r>
              <a:rPr lang="en-GB" sz="3200" dirty="0" smtClean="0"/>
              <a:t>python automatically sets the variable as a string</a:t>
            </a:r>
            <a:r>
              <a:rPr lang="en-GB" sz="3200" dirty="0"/>
              <a:t> </a:t>
            </a:r>
            <a:r>
              <a:rPr lang="en-GB" i="1" dirty="0" smtClean="0"/>
              <a:t>(a word, for example </a:t>
            </a:r>
            <a:r>
              <a:rPr lang="en-GB" b="1" i="1" dirty="0" smtClean="0"/>
              <a:t>twenty</a:t>
            </a:r>
            <a:r>
              <a:rPr lang="en-GB" i="1" dirty="0" smtClean="0"/>
              <a:t> instead of </a:t>
            </a:r>
            <a:r>
              <a:rPr lang="en-GB" b="1" i="1" dirty="0" smtClean="0"/>
              <a:t>20</a:t>
            </a:r>
            <a:r>
              <a:rPr lang="en-GB" i="1" dirty="0" smtClean="0"/>
              <a:t>)</a:t>
            </a:r>
            <a:endParaRPr lang="en-GB" sz="3200" i="1" dirty="0" smtClean="0"/>
          </a:p>
          <a:p>
            <a:pPr marL="457200" lvl="1" indent="0">
              <a:buNone/>
            </a:pPr>
            <a:endParaRPr lang="en-GB" sz="3200" dirty="0" smtClean="0"/>
          </a:p>
          <a:p>
            <a:r>
              <a:rPr lang="en-GB" dirty="0" smtClean="0"/>
              <a:t>If we want to do maths with the ‘inputs’ we need to tell the computer that the variable contains a number (integer)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40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Converting Data Types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011"/>
            <a:ext cx="8602512" cy="4610057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To do this we need to convert the variable to an ‘integer’ or ‘real’ data type.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Above you can see that two numbers have been entered and stored in variables num1 and num2.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As python stores inputs as strings we need to convert these variables into integers.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440" t="12884" r="44482" b="61721"/>
          <a:stretch/>
        </p:blipFill>
        <p:spPr>
          <a:xfrm>
            <a:off x="899592" y="2132856"/>
            <a:ext cx="6768752" cy="179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5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872" y="4960435"/>
            <a:ext cx="1058495" cy="105849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437" y="4939802"/>
            <a:ext cx="1391816" cy="101341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19" y="4919022"/>
            <a:ext cx="1391816" cy="10134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995" y="1856539"/>
            <a:ext cx="1391816" cy="101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343" y="391706"/>
            <a:ext cx="8592168" cy="36004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What’s going on?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46524" y="533230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Variable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 rot="652814">
            <a:off x="1907511" y="4538617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>
                <a:solidFill>
                  <a:schemeClr val="tx2">
                    <a:lumMod val="50000"/>
                  </a:schemeClr>
                </a:solidFill>
              </a:rPr>
              <a:t>29</a:t>
            </a:r>
            <a:endParaRPr lang="en-GB" sz="3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21100055" flipH="1">
            <a:off x="2742198" y="3378220"/>
            <a:ext cx="4055285" cy="88066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4867" y="5336682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Variable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 rot="652814">
            <a:off x="5540431" y="4542991"/>
            <a:ext cx="2879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>
                <a:solidFill>
                  <a:schemeClr val="tx2">
                    <a:lumMod val="50000"/>
                  </a:schemeClr>
                </a:solidFill>
              </a:rPr>
              <a:t>Twenty Nine</a:t>
            </a:r>
            <a:endParaRPr lang="en-GB" sz="3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80963" y="4191288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29</a:t>
            </a:r>
            <a:endParaRPr lang="en-GB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4762592" y="5936954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Mr Int.</a:t>
            </a:r>
            <a:endParaRPr lang="en-GB" sz="2800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832044" y="4815121"/>
            <a:ext cx="2348423" cy="1169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937358" y="4478282"/>
            <a:ext cx="1830885" cy="76700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36117" y="2275423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Num1</a:t>
            </a:r>
            <a:endParaRPr lang="en-GB" dirty="0"/>
          </a:p>
        </p:txBody>
      </p:sp>
      <p:sp>
        <p:nvSpPr>
          <p:cNvPr id="28" name="TextBox 27"/>
          <p:cNvSpPr txBox="1"/>
          <p:nvPr/>
        </p:nvSpPr>
        <p:spPr>
          <a:xfrm rot="652814">
            <a:off x="6180948" y="1952257"/>
            <a:ext cx="2879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>
                <a:solidFill>
                  <a:schemeClr val="tx2">
                    <a:lumMod val="50000"/>
                  </a:schemeClr>
                </a:solidFill>
              </a:rPr>
              <a:t>Twenty Nine</a:t>
            </a:r>
            <a:endParaRPr lang="en-GB" sz="3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9" name="Curved Down Arrow 28"/>
          <p:cNvSpPr/>
          <p:nvPr/>
        </p:nvSpPr>
        <p:spPr>
          <a:xfrm rot="21100055" flipH="1">
            <a:off x="4759223" y="1439202"/>
            <a:ext cx="1836673" cy="51740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Oval Callout 22"/>
          <p:cNvSpPr/>
          <p:nvPr/>
        </p:nvSpPr>
        <p:spPr>
          <a:xfrm>
            <a:off x="3455871" y="3834273"/>
            <a:ext cx="1634248" cy="1392322"/>
          </a:xfrm>
          <a:prstGeom prst="wedgeEllipseCallout">
            <a:avLst>
              <a:gd name="adj1" fmla="val 47663"/>
              <a:gd name="adj2" fmla="val 767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I’m telling the computer that this variable contains a number not a word!</a:t>
            </a:r>
            <a:endParaRPr lang="en-GB" sz="11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1439" t="13403" r="51961" b="82025"/>
          <a:stretch/>
        </p:blipFill>
        <p:spPr>
          <a:xfrm>
            <a:off x="435343" y="985838"/>
            <a:ext cx="5832648" cy="32339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4"/>
          <a:srcRect l="1440" t="25103" r="79000" b="69805"/>
          <a:stretch/>
        </p:blipFill>
        <p:spPr>
          <a:xfrm>
            <a:off x="505562" y="3228344"/>
            <a:ext cx="2833417" cy="41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7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  <p:bldP spid="11" grpId="0"/>
      <p:bldP spid="12" grpId="0"/>
      <p:bldP spid="13" grpId="0"/>
      <p:bldP spid="14" grpId="0"/>
      <p:bldP spid="27" grpId="0"/>
      <p:bldP spid="28" grpId="0"/>
      <p:bldP spid="29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111" y="4330898"/>
            <a:ext cx="1134156" cy="825807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61" y="5600443"/>
            <a:ext cx="1134156" cy="8258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107" y="5548688"/>
            <a:ext cx="1087892" cy="94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Once they have been converted we’re ready to do maths!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6227106" y="1913758"/>
            <a:ext cx="2539151" cy="1028534"/>
            <a:chOff x="6227106" y="1913758"/>
            <a:chExt cx="2539151" cy="1028534"/>
          </a:xfrm>
        </p:grpSpPr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2101" y="2116485"/>
              <a:ext cx="1134156" cy="825807"/>
            </a:xfrm>
            <a:prstGeom prst="rect">
              <a:avLst/>
            </a:prstGeom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7106" y="2107902"/>
              <a:ext cx="1134156" cy="825807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404562" y="2330549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Num1</a:t>
              </a:r>
              <a:endParaRPr lang="en-GB" dirty="0"/>
            </a:p>
          </p:txBody>
        </p:sp>
        <p:sp>
          <p:nvSpPr>
            <p:cNvPr id="8" name="TextBox 7"/>
            <p:cNvSpPr txBox="1"/>
            <p:nvPr/>
          </p:nvSpPr>
          <p:spPr>
            <a:xfrm rot="652814">
              <a:off x="6518217" y="1913758"/>
              <a:ext cx="487662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 smtClean="0">
                  <a:solidFill>
                    <a:schemeClr val="tx2">
                      <a:lumMod val="50000"/>
                    </a:schemeClr>
                  </a:solidFill>
                </a:rPr>
                <a:t>Five</a:t>
              </a:r>
              <a:endParaRPr lang="en-GB" sz="16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40093" y="2330548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Num2</a:t>
              </a:r>
              <a:endParaRPr lang="en-GB" dirty="0"/>
            </a:p>
          </p:txBody>
        </p:sp>
        <p:sp>
          <p:nvSpPr>
            <p:cNvPr id="11" name="TextBox 10"/>
            <p:cNvSpPr txBox="1"/>
            <p:nvPr/>
          </p:nvSpPr>
          <p:spPr>
            <a:xfrm rot="652814">
              <a:off x="7866696" y="1940364"/>
              <a:ext cx="540317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 smtClean="0">
                  <a:solidFill>
                    <a:schemeClr val="tx2">
                      <a:lumMod val="50000"/>
                    </a:schemeClr>
                  </a:solidFill>
                </a:rPr>
                <a:t>Nine</a:t>
              </a:r>
              <a:endParaRPr lang="en-GB" sz="16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106" y="3133185"/>
            <a:ext cx="2529602" cy="965904"/>
            <a:chOff x="6227106" y="3133185"/>
            <a:chExt cx="2529602" cy="965904"/>
          </a:xfrm>
        </p:grpSpPr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2552" y="3273282"/>
              <a:ext cx="1134156" cy="825807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7106" y="3252167"/>
              <a:ext cx="1134156" cy="825807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381332" y="3549976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Num1</a:t>
              </a:r>
              <a:endParaRPr lang="en-GB" dirty="0"/>
            </a:p>
          </p:txBody>
        </p:sp>
        <p:sp>
          <p:nvSpPr>
            <p:cNvPr id="22" name="TextBox 21"/>
            <p:cNvSpPr txBox="1"/>
            <p:nvPr/>
          </p:nvSpPr>
          <p:spPr>
            <a:xfrm rot="652814">
              <a:off x="6494987" y="3133185"/>
              <a:ext cx="487662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 smtClean="0">
                  <a:solidFill>
                    <a:schemeClr val="tx2">
                      <a:lumMod val="50000"/>
                    </a:schemeClr>
                  </a:solidFill>
                </a:rPr>
                <a:t>Five</a:t>
              </a:r>
              <a:endParaRPr lang="en-GB" sz="16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16863" y="3549975"/>
              <a:ext cx="709081" cy="284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Num2</a:t>
              </a:r>
              <a:endParaRPr lang="en-GB" dirty="0"/>
            </a:p>
          </p:txBody>
        </p:sp>
        <p:sp>
          <p:nvSpPr>
            <p:cNvPr id="25" name="TextBox 24"/>
            <p:cNvSpPr txBox="1"/>
            <p:nvPr/>
          </p:nvSpPr>
          <p:spPr>
            <a:xfrm rot="652814">
              <a:off x="7843466" y="3159791"/>
              <a:ext cx="540317" cy="261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 smtClean="0">
                  <a:solidFill>
                    <a:schemeClr val="tx2">
                      <a:lumMod val="50000"/>
                    </a:schemeClr>
                  </a:solidFill>
                </a:rPr>
                <a:t>Nine</a:t>
              </a:r>
              <a:endParaRPr lang="en-GB" sz="16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 rot="652814">
            <a:off x="6741877" y="2825740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50000"/>
                  </a:schemeClr>
                </a:solidFill>
              </a:rPr>
              <a:t>5</a:t>
            </a:r>
            <a:endParaRPr lang="en-GB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rot="652814">
            <a:off x="8116683" y="2852346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50000"/>
                  </a:schemeClr>
                </a:solidFill>
              </a:rPr>
              <a:t>9</a:t>
            </a:r>
            <a:endParaRPr lang="en-GB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6517154" y="3189573"/>
            <a:ext cx="554061" cy="1674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639083" y="3126864"/>
            <a:ext cx="360700" cy="32916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7912600" y="3218308"/>
            <a:ext cx="554061" cy="1674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034529" y="3155599"/>
            <a:ext cx="360700" cy="32916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 rot="652814">
            <a:off x="7802823" y="4564635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50000"/>
                  </a:schemeClr>
                </a:solidFill>
              </a:rPr>
              <a:t>5</a:t>
            </a:r>
            <a:endParaRPr lang="en-GB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 rot="652814">
            <a:off x="8413326" y="4564636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50000"/>
                  </a:schemeClr>
                </a:solidFill>
              </a:rPr>
              <a:t>9</a:t>
            </a:r>
            <a:endParaRPr lang="en-GB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02683" y="455913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+</a:t>
            </a:r>
            <a:endParaRPr lang="en-GB" dirty="0"/>
          </a:p>
        </p:txBody>
      </p:sp>
      <p:sp>
        <p:nvSpPr>
          <p:cNvPr id="38" name="TextBox 37"/>
          <p:cNvSpPr txBox="1"/>
          <p:nvPr/>
        </p:nvSpPr>
        <p:spPr>
          <a:xfrm>
            <a:off x="6306695" y="4590099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Answer</a:t>
            </a:r>
            <a:endParaRPr lang="en-GB" dirty="0"/>
          </a:p>
        </p:txBody>
      </p:sp>
      <p:sp>
        <p:nvSpPr>
          <p:cNvPr id="39" name="Curved Down Arrow 38"/>
          <p:cNvSpPr/>
          <p:nvPr/>
        </p:nvSpPr>
        <p:spPr>
          <a:xfrm rot="550607" flipH="1">
            <a:off x="6749094" y="4091555"/>
            <a:ext cx="1625058" cy="39474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 rot="652814">
            <a:off x="6612737" y="4311420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50000"/>
                  </a:schemeClr>
                </a:solidFill>
              </a:rPr>
              <a:t>14</a:t>
            </a:r>
            <a:endParaRPr lang="en-GB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06694" y="5928344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Answer</a:t>
            </a:r>
            <a:endParaRPr lang="en-GB" dirty="0"/>
          </a:p>
        </p:txBody>
      </p:sp>
      <p:sp>
        <p:nvSpPr>
          <p:cNvPr id="43" name="TextBox 42"/>
          <p:cNvSpPr txBox="1"/>
          <p:nvPr/>
        </p:nvSpPr>
        <p:spPr>
          <a:xfrm rot="652814">
            <a:off x="6612737" y="5497543"/>
            <a:ext cx="415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50000"/>
                  </a:schemeClr>
                </a:solidFill>
              </a:rPr>
              <a:t>14</a:t>
            </a:r>
            <a:endParaRPr lang="en-GB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4" name="Curved Down Arrow 43"/>
          <p:cNvSpPr/>
          <p:nvPr/>
        </p:nvSpPr>
        <p:spPr>
          <a:xfrm>
            <a:off x="6763604" y="5134906"/>
            <a:ext cx="1620466" cy="39474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50196" y="5560779"/>
            <a:ext cx="692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solidFill>
                  <a:srgbClr val="FF0000"/>
                </a:solidFill>
              </a:rPr>
              <a:t>14</a:t>
            </a:r>
            <a:endParaRPr lang="en-GB" sz="3200" b="1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270" t="13442" r="43074" b="48315"/>
          <a:stretch/>
        </p:blipFill>
        <p:spPr>
          <a:xfrm>
            <a:off x="566309" y="2422881"/>
            <a:ext cx="5370750" cy="219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1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4" grpId="0"/>
      <p:bldP spid="35" grpId="0"/>
      <p:bldP spid="36" grpId="0"/>
      <p:bldP spid="38" grpId="0"/>
      <p:bldP spid="39" grpId="0" animBg="1"/>
      <p:bldP spid="40" grpId="0"/>
      <p:bldP spid="42" grpId="0"/>
      <p:bldP spid="43" grpId="0"/>
      <p:bldP spid="44" grpId="0" animBg="1"/>
      <p:bldP spid="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Tasks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Work your way through the arithmetic </a:t>
            </a:r>
            <a:r>
              <a:rPr lang="en-GB" dirty="0" smtClean="0"/>
              <a:t>tasks in OneNote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Comment as you work through the </a:t>
            </a:r>
            <a:r>
              <a:rPr lang="en-GB" dirty="0" smtClean="0"/>
              <a:t>tasks using the </a:t>
            </a:r>
            <a:r>
              <a:rPr lang="en-GB" dirty="0" smtClean="0">
                <a:solidFill>
                  <a:srgbClr val="FF0000"/>
                </a:solidFill>
              </a:rPr>
              <a:t>#</a:t>
            </a:r>
            <a:endParaRPr lang="en-GB" dirty="0" smtClean="0">
              <a:solidFill>
                <a:srgbClr val="FF0000"/>
              </a:solidFill>
            </a:endParaRPr>
          </a:p>
          <a:p>
            <a:endParaRPr lang="en-GB" dirty="0"/>
          </a:p>
          <a:p>
            <a:r>
              <a:rPr lang="en-GB" dirty="0" smtClean="0"/>
              <a:t>Place screen shots of your work into OneNote as you go.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46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637</TotalTime>
  <Words>665</Words>
  <Application>Microsoft Office PowerPoint</Application>
  <PresentationFormat>On-screen Show (4:3)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Century Gothic</vt:lpstr>
      <vt:lpstr>Office Theme</vt:lpstr>
      <vt:lpstr>From Scratch to Python</vt:lpstr>
      <vt:lpstr>Starter</vt:lpstr>
      <vt:lpstr>Lesson Objectives</vt:lpstr>
      <vt:lpstr>Review of last few lessons</vt:lpstr>
      <vt:lpstr>Hands up if you can tell me the following…</vt:lpstr>
      <vt:lpstr>Hands up if you can tell me the following…</vt:lpstr>
      <vt:lpstr>Programming Inputs &amp; Storing Inputs in PYTHON</vt:lpstr>
      <vt:lpstr>Commenting</vt:lpstr>
      <vt:lpstr>PowerPoint Presentation</vt:lpstr>
      <vt:lpstr>What is a data type</vt:lpstr>
      <vt:lpstr>The need to tell the computer what data type the variable will store</vt:lpstr>
      <vt:lpstr>Doing Arithmetic</vt:lpstr>
      <vt:lpstr>Converting Data Types</vt:lpstr>
      <vt:lpstr>What’s going on?</vt:lpstr>
      <vt:lpstr>Once they have been converted we’re ready to do maths!</vt:lpstr>
      <vt:lpstr>Tasks</vt:lpstr>
    </vt:vector>
  </TitlesOfParts>
  <Company>Sidmouth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S Wickins</dc:creator>
  <cp:lastModifiedBy>Dominick Allgood</cp:lastModifiedBy>
  <cp:revision>85</cp:revision>
  <cp:lastPrinted>2014-01-08T08:31:11Z</cp:lastPrinted>
  <dcterms:created xsi:type="dcterms:W3CDTF">2013-06-03T08:01:30Z</dcterms:created>
  <dcterms:modified xsi:type="dcterms:W3CDTF">2018-05-24T13:37:58Z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500362</vt:lpwstr>
  </property>
  <property fmtid="{D5CDD505-2E9C-101B-9397-08002B2CF9AE}" pid="3" name="NXPowerLiteSettings">
    <vt:lpwstr>C74006B004C800</vt:lpwstr>
  </property>
  <property fmtid="{D5CDD505-2E9C-101B-9397-08002B2CF9AE}" pid="4" name="NXPowerLiteVersion">
    <vt:lpwstr>S6.1.0</vt:lpwstr>
  </property>
</Properties>
</file>