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67" r:id="rId2"/>
    <p:sldId id="268" r:id="rId3"/>
    <p:sldId id="334" r:id="rId4"/>
    <p:sldId id="335" r:id="rId5"/>
    <p:sldId id="343" r:id="rId6"/>
    <p:sldId id="327" r:id="rId7"/>
    <p:sldId id="336" r:id="rId8"/>
    <p:sldId id="337" r:id="rId9"/>
    <p:sldId id="341" r:id="rId10"/>
    <p:sldId id="342" r:id="rId11"/>
  </p:sldIdLst>
  <p:sldSz cx="9144000" cy="6858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55" autoAdjust="0"/>
    <p:restoredTop sz="94660"/>
  </p:normalViewPr>
  <p:slideViewPr>
    <p:cSldViewPr>
      <p:cViewPr varScale="1">
        <p:scale>
          <a:sx n="72" d="100"/>
          <a:sy n="72" d="100"/>
        </p:scale>
        <p:origin x="1668" y="7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9E99A9-B99E-420F-9021-5490202BBDB4}" type="datetimeFigureOut">
              <a:rPr lang="en-GB" smtClean="0"/>
              <a:t>25/05/2018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GB"/>
              <a:t>Sidmouth College Computer Studies Department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0C6AB2-E972-471A-8A00-AEA8AD547B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252110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29DBEF-E7F9-43A9-AE87-E7E0C46BE106}" type="datetimeFigureOut">
              <a:rPr lang="en-GB" smtClean="0"/>
              <a:t>25/05/2018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GB"/>
              <a:t>Sidmouth College Computer Studies Department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827FFD-109F-4175-8055-DFA41E4343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879926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Sidmouth College Computer Studies Department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827FFD-109F-4175-8055-DFA41E4343A2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43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5536" y="6377280"/>
            <a:ext cx="4258816" cy="365125"/>
          </a:xfrm>
          <a:prstGeom prst="rect">
            <a:avLst/>
          </a:prstGeom>
        </p:spPr>
        <p:txBody>
          <a:bodyPr/>
          <a:lstStyle/>
          <a:p>
            <a:fld id="{58923EEC-0D63-432B-B213-214F9A9D98D4}" type="datetimeFigureOut">
              <a:rPr lang="en-GB" smtClean="0"/>
              <a:t>25/05/2018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82CD1AD-4CFA-41AE-B456-70CE516DA6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449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5536" y="6377280"/>
            <a:ext cx="4258816" cy="365125"/>
          </a:xfrm>
          <a:prstGeom prst="rect">
            <a:avLst/>
          </a:prstGeom>
        </p:spPr>
        <p:txBody>
          <a:bodyPr/>
          <a:lstStyle/>
          <a:p>
            <a:fld id="{58923EEC-0D63-432B-B213-214F9A9D98D4}" type="datetimeFigureOut">
              <a:rPr lang="en-GB" smtClean="0"/>
              <a:t>25/05/2018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82CD1AD-4CFA-41AE-B456-70CE516DA6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7302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5536" y="6377280"/>
            <a:ext cx="4258816" cy="365125"/>
          </a:xfrm>
          <a:prstGeom prst="rect">
            <a:avLst/>
          </a:prstGeom>
        </p:spPr>
        <p:txBody>
          <a:bodyPr/>
          <a:lstStyle/>
          <a:p>
            <a:fld id="{58923EEC-0D63-432B-B213-214F9A9D98D4}" type="datetimeFigureOut">
              <a:rPr lang="en-GB" smtClean="0"/>
              <a:t>25/05/2018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82CD1AD-4CFA-41AE-B456-70CE516DA6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2861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95536" y="6377280"/>
            <a:ext cx="4258816" cy="365125"/>
          </a:xfrm>
          <a:prstGeom prst="rect">
            <a:avLst/>
          </a:prstGeom>
        </p:spPr>
        <p:txBody>
          <a:bodyPr/>
          <a:lstStyle/>
          <a:p>
            <a:fld id="{58923EEC-0D63-432B-B213-214F9A9D98D4}" type="datetimeFigureOut">
              <a:rPr lang="en-GB" smtClean="0"/>
              <a:t>25/05/2018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82CD1AD-4CFA-41AE-B456-70CE516DA6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4579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395536" y="6377280"/>
            <a:ext cx="4258816" cy="365125"/>
          </a:xfrm>
          <a:prstGeom prst="rect">
            <a:avLst/>
          </a:prstGeom>
        </p:spPr>
        <p:txBody>
          <a:bodyPr/>
          <a:lstStyle/>
          <a:p>
            <a:fld id="{58923EEC-0D63-432B-B213-214F9A9D98D4}" type="datetimeFigureOut">
              <a:rPr lang="en-GB" smtClean="0"/>
              <a:t>25/05/2018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82CD1AD-4CFA-41AE-B456-70CE516DA6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5155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5536" y="6377280"/>
            <a:ext cx="4258816" cy="365125"/>
          </a:xfrm>
          <a:prstGeom prst="rect">
            <a:avLst/>
          </a:prstGeom>
        </p:spPr>
        <p:txBody>
          <a:bodyPr/>
          <a:lstStyle/>
          <a:p>
            <a:fld id="{58923EEC-0D63-432B-B213-214F9A9D98D4}" type="datetimeFigureOut">
              <a:rPr lang="en-GB" smtClean="0"/>
              <a:t>25/05/2018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82CD1AD-4CFA-41AE-B456-70CE516DA6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6659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395536" y="6377280"/>
            <a:ext cx="4258816" cy="365125"/>
          </a:xfrm>
          <a:prstGeom prst="rect">
            <a:avLst/>
          </a:prstGeom>
        </p:spPr>
        <p:txBody>
          <a:bodyPr/>
          <a:lstStyle/>
          <a:p>
            <a:fld id="{58923EEC-0D63-432B-B213-214F9A9D98D4}" type="datetimeFigureOut">
              <a:rPr lang="en-GB" smtClean="0"/>
              <a:t>25/05/2018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82CD1AD-4CFA-41AE-B456-70CE516DA6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3358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95536" y="6377280"/>
            <a:ext cx="4258816" cy="365125"/>
          </a:xfrm>
          <a:prstGeom prst="rect">
            <a:avLst/>
          </a:prstGeom>
        </p:spPr>
        <p:txBody>
          <a:bodyPr/>
          <a:lstStyle/>
          <a:p>
            <a:fld id="{58923EEC-0D63-432B-B213-214F9A9D98D4}" type="datetimeFigureOut">
              <a:rPr lang="en-GB" smtClean="0"/>
              <a:t>25/05/2018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82CD1AD-4CFA-41AE-B456-70CE516DA6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865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95536" y="6377280"/>
            <a:ext cx="4258816" cy="365125"/>
          </a:xfrm>
          <a:prstGeom prst="rect">
            <a:avLst/>
          </a:prstGeom>
        </p:spPr>
        <p:txBody>
          <a:bodyPr/>
          <a:lstStyle/>
          <a:p>
            <a:fld id="{58923EEC-0D63-432B-B213-214F9A9D98D4}" type="datetimeFigureOut">
              <a:rPr lang="en-GB" smtClean="0"/>
              <a:t>25/05/2018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82CD1AD-4CFA-41AE-B456-70CE516DA6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6492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5536" y="6377280"/>
            <a:ext cx="4258816" cy="365125"/>
          </a:xfrm>
          <a:prstGeom prst="rect">
            <a:avLst/>
          </a:prstGeom>
        </p:spPr>
        <p:txBody>
          <a:bodyPr/>
          <a:lstStyle/>
          <a:p>
            <a:fld id="{58923EEC-0D63-432B-B213-214F9A9D98D4}" type="datetimeFigureOut">
              <a:rPr lang="en-GB" smtClean="0"/>
              <a:t>25/05/2018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82CD1AD-4CFA-41AE-B456-70CE516DA6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9267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5536" y="6377280"/>
            <a:ext cx="4258816" cy="365125"/>
          </a:xfrm>
          <a:prstGeom prst="rect">
            <a:avLst/>
          </a:prstGeom>
        </p:spPr>
        <p:txBody>
          <a:bodyPr/>
          <a:lstStyle/>
          <a:p>
            <a:fld id="{58923EEC-0D63-432B-B213-214F9A9D98D4}" type="datetimeFigureOut">
              <a:rPr lang="en-GB" smtClean="0"/>
              <a:t>25/05/2018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82CD1AD-4CFA-41AE-B456-70CE516DA6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3641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59216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602512" cy="46100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Rectangle 12"/>
          <p:cNvSpPr/>
          <p:nvPr userDrawn="1"/>
        </p:nvSpPr>
        <p:spPr>
          <a:xfrm>
            <a:off x="-322" y="0"/>
            <a:ext cx="323528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850" y="6393700"/>
            <a:ext cx="1522512" cy="377582"/>
          </a:xfrm>
          <a:prstGeom prst="rect">
            <a:avLst/>
          </a:prstGeom>
        </p:spPr>
      </p:pic>
      <p:sp>
        <p:nvSpPr>
          <p:cNvPr id="9" name="TextBox 4"/>
          <p:cNvSpPr txBox="1"/>
          <p:nvPr userDrawn="1"/>
        </p:nvSpPr>
        <p:spPr>
          <a:xfrm>
            <a:off x="6246460" y="6465210"/>
            <a:ext cx="28729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dirty="0"/>
              <a:t>www.computerscienceuk.com</a:t>
            </a:r>
          </a:p>
        </p:txBody>
      </p:sp>
    </p:spTree>
    <p:extLst>
      <p:ext uri="{BB962C8B-B14F-4D97-AF65-F5344CB8AC3E}">
        <p14:creationId xmlns:p14="http://schemas.microsoft.com/office/powerpoint/2010/main" val="1316312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From Scratch to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i="1" dirty="0"/>
              <a:t>Learn to program like the big boys / girls!</a:t>
            </a:r>
          </a:p>
        </p:txBody>
      </p:sp>
    </p:spTree>
    <p:extLst>
      <p:ext uri="{BB962C8B-B14F-4D97-AF65-F5344CB8AC3E}">
        <p14:creationId xmlns:p14="http://schemas.microsoft.com/office/powerpoint/2010/main" val="2876775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592168" cy="864096"/>
          </a:xfrm>
        </p:spPr>
        <p:txBody>
          <a:bodyPr/>
          <a:lstStyle/>
          <a:p>
            <a:r>
              <a:rPr lang="en-GB" dirty="0"/>
              <a:t>Lesson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602512" cy="3168351"/>
          </a:xfrm>
        </p:spPr>
        <p:txBody>
          <a:bodyPr>
            <a:normAutofit fontScale="85000" lnSpcReduction="20000"/>
          </a:bodyPr>
          <a:lstStyle/>
          <a:p>
            <a:pPr marL="0" indent="0" fontAlgn="t">
              <a:buNone/>
            </a:pPr>
            <a:r>
              <a:rPr lang="en-GB" b="1" dirty="0"/>
              <a:t>Lesson Objectives</a:t>
            </a:r>
          </a:p>
          <a:p>
            <a:r>
              <a:rPr lang="en-GB" dirty="0"/>
              <a:t>Reflecting on our progress so far in Computer Studies</a:t>
            </a:r>
          </a:p>
          <a:p>
            <a:r>
              <a:rPr lang="en-GB" dirty="0"/>
              <a:t>Reflecting on our progress so far in programming</a:t>
            </a:r>
          </a:p>
          <a:p>
            <a:r>
              <a:rPr lang="en-GB" dirty="0"/>
              <a:t>Understand the importance of certain learning habits for successful programming</a:t>
            </a:r>
          </a:p>
          <a:p>
            <a:pPr marL="0" indent="0" fontAlgn="t">
              <a:buNone/>
            </a:pPr>
            <a:r>
              <a:rPr lang="en-GB" b="1" dirty="0"/>
              <a:t>Success Criteria</a:t>
            </a:r>
          </a:p>
          <a:p>
            <a:pPr fontAlgn="t"/>
            <a:r>
              <a:rPr lang="en-GB" dirty="0"/>
              <a:t>Carrying out a number of programming tasks.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3252666"/>
              </p:ext>
            </p:extLst>
          </p:nvPr>
        </p:nvGraphicFramePr>
        <p:xfrm>
          <a:off x="539552" y="4441129"/>
          <a:ext cx="835292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96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Literacy – Key Words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The type of data being used by the program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The place</a:t>
                      </a:r>
                      <a:r>
                        <a:rPr lang="en-GB" sz="1600" baseline="0" dirty="0"/>
                        <a:t> where inputs get stored by the program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640">
                <a:tc>
                  <a:txBody>
                    <a:bodyPr/>
                    <a:lstStyle/>
                    <a:p>
                      <a:r>
                        <a:rPr lang="en-GB" sz="1600" dirty="0"/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“Whole</a:t>
                      </a:r>
                      <a:r>
                        <a:rPr lang="en-GB" sz="1600" baseline="0" dirty="0"/>
                        <a:t> Number” data type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640">
                <a:tc>
                  <a:txBody>
                    <a:bodyPr/>
                    <a:lstStyle/>
                    <a:p>
                      <a:r>
                        <a:rPr lang="en-GB" sz="1600" dirty="0"/>
                        <a:t>Selection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A control</a:t>
                      </a:r>
                      <a:r>
                        <a:rPr lang="en-GB" sz="1600" baseline="0" dirty="0"/>
                        <a:t> structure which allows programs to make decisions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2362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60649"/>
            <a:ext cx="8592168" cy="360040"/>
          </a:xfrm>
        </p:spPr>
        <p:txBody>
          <a:bodyPr>
            <a:normAutofit fontScale="90000"/>
          </a:bodyPr>
          <a:lstStyle/>
          <a:p>
            <a:r>
              <a:rPr lang="en-GB" dirty="0"/>
              <a:t>Learning Habits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46625" y="3784769"/>
            <a:ext cx="236341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u="sng" dirty="0"/>
              <a:t>Collaboration</a:t>
            </a:r>
            <a:r>
              <a:rPr lang="en-US" sz="1400" b="1" dirty="0"/>
              <a:t>:</a:t>
            </a:r>
          </a:p>
          <a:p>
            <a:r>
              <a:rPr lang="en-US" sz="1400" dirty="0"/>
              <a:t>Working effectively with others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58800" y="2968188"/>
            <a:ext cx="159050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u="sng" dirty="0"/>
              <a:t>Listening</a:t>
            </a:r>
            <a:r>
              <a:rPr lang="en-US" sz="1400" b="1" dirty="0"/>
              <a:t>…</a:t>
            </a:r>
          </a:p>
          <a:p>
            <a:r>
              <a:rPr lang="en-US" sz="1400" dirty="0"/>
              <a:t>…to understand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360" y="2236974"/>
            <a:ext cx="235192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u="sng" dirty="0" err="1"/>
              <a:t>Empathising</a:t>
            </a:r>
            <a:r>
              <a:rPr lang="en-US" sz="1400" b="1" dirty="0"/>
              <a:t>…</a:t>
            </a:r>
          </a:p>
          <a:p>
            <a:r>
              <a:rPr lang="en-US" sz="1400" dirty="0"/>
              <a:t>…with feelings and views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27152" y="4310670"/>
            <a:ext cx="253256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u="sng" dirty="0"/>
              <a:t>Imitation</a:t>
            </a:r>
            <a:r>
              <a:rPr lang="en-US" sz="1400" b="1" dirty="0"/>
              <a:t>:</a:t>
            </a:r>
          </a:p>
          <a:p>
            <a:r>
              <a:rPr lang="en-US" sz="1400" dirty="0"/>
              <a:t>Picking up good habits from others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83244" y="4712768"/>
            <a:ext cx="4572001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b="1" u="sng" dirty="0"/>
              <a:t>Independence:</a:t>
            </a:r>
            <a:endParaRPr lang="en-US" sz="1400" b="1" dirty="0"/>
          </a:p>
          <a:p>
            <a:r>
              <a:rPr lang="en-US" sz="1400" dirty="0"/>
              <a:t>Working effectively alone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21314" y="2540067"/>
            <a:ext cx="241176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u="sng" dirty="0"/>
              <a:t>Questioning</a:t>
            </a:r>
            <a:r>
              <a:rPr lang="en-US" sz="1400" b="1" dirty="0"/>
              <a:t>:</a:t>
            </a:r>
          </a:p>
          <a:p>
            <a:r>
              <a:rPr lang="en-US" sz="1400" dirty="0"/>
              <a:t>Asking questions to get below the surface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6108" y="5470498"/>
            <a:ext cx="184905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u="sng" dirty="0"/>
              <a:t>Making links…</a:t>
            </a:r>
          </a:p>
          <a:p>
            <a:r>
              <a:rPr lang="en-US" sz="1400" dirty="0"/>
              <a:t>…and </a:t>
            </a:r>
            <a:r>
              <a:rPr lang="en-US" sz="1400" dirty="0" err="1"/>
              <a:t>recognising</a:t>
            </a:r>
            <a:r>
              <a:rPr lang="en-US" sz="1400" dirty="0"/>
              <a:t> relevance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30639" y="2958739"/>
            <a:ext cx="371100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u="sng" dirty="0"/>
              <a:t>Imagining</a:t>
            </a:r>
            <a:r>
              <a:rPr lang="en-US" sz="1400" b="1" dirty="0"/>
              <a:t>…</a:t>
            </a:r>
          </a:p>
          <a:p>
            <a:r>
              <a:rPr lang="en-US" sz="1400" dirty="0"/>
              <a:t>…how things could be and seeing a range of possibilities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98742" y="1466781"/>
            <a:ext cx="291581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u="sng" dirty="0"/>
              <a:t>Reasoning</a:t>
            </a:r>
            <a:r>
              <a:rPr lang="en-US" sz="1400" b="1" dirty="0"/>
              <a:t>:</a:t>
            </a:r>
          </a:p>
          <a:p>
            <a:r>
              <a:rPr lang="en-US" sz="1400" dirty="0"/>
              <a:t>Thinking rigorously, methodically and giving explanations.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67812" y="5278446"/>
            <a:ext cx="280831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u="sng" dirty="0" err="1"/>
              <a:t>Capitalising</a:t>
            </a:r>
            <a:r>
              <a:rPr lang="en-US" sz="1400" b="1" dirty="0"/>
              <a:t>:</a:t>
            </a:r>
          </a:p>
          <a:p>
            <a:r>
              <a:rPr lang="en-US" sz="1400" dirty="0"/>
              <a:t>Using resources purposefully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03711" y="4722201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b="1" u="sng" dirty="0"/>
              <a:t>Managing distractions…</a:t>
            </a:r>
          </a:p>
          <a:p>
            <a:r>
              <a:rPr lang="en-US" sz="1400" b="1" dirty="0"/>
              <a:t>…</a:t>
            </a:r>
            <a:r>
              <a:rPr lang="en-US" sz="1400" dirty="0"/>
              <a:t>and sustaining concentration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63969" y="2365993"/>
            <a:ext cx="191911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u="sng" dirty="0"/>
              <a:t>Effective use of time</a:t>
            </a:r>
            <a:endParaRPr lang="en-US" sz="1400" dirty="0"/>
          </a:p>
        </p:txBody>
      </p:sp>
      <p:sp>
        <p:nvSpPr>
          <p:cNvPr id="16" name="Rectangle 15"/>
          <p:cNvSpPr/>
          <p:nvPr/>
        </p:nvSpPr>
        <p:spPr>
          <a:xfrm>
            <a:off x="571050" y="1459593"/>
            <a:ext cx="153760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u="sng" dirty="0"/>
              <a:t>Noticing details</a:t>
            </a:r>
            <a:endParaRPr lang="en-US" sz="1400" dirty="0"/>
          </a:p>
        </p:txBody>
      </p:sp>
      <p:sp>
        <p:nvSpPr>
          <p:cNvPr id="17" name="Rectangle 16"/>
          <p:cNvSpPr/>
          <p:nvPr/>
        </p:nvSpPr>
        <p:spPr>
          <a:xfrm>
            <a:off x="2477628" y="5448164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b="1" u="sng" dirty="0"/>
              <a:t>Perseverance:</a:t>
            </a:r>
            <a:endParaRPr lang="en-US" sz="1400" b="1" dirty="0"/>
          </a:p>
          <a:p>
            <a:r>
              <a:rPr lang="en-US" sz="1400" dirty="0"/>
              <a:t>Overcoming frustration and difficulty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93264" y="6074132"/>
            <a:ext cx="25490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u="sng" dirty="0"/>
              <a:t>Planning</a:t>
            </a:r>
            <a:r>
              <a:rPr lang="en-US" sz="1400" b="1" dirty="0"/>
              <a:t>…</a:t>
            </a:r>
          </a:p>
          <a:p>
            <a:r>
              <a:rPr lang="en-US" sz="1400" b="1" dirty="0"/>
              <a:t>…</a:t>
            </a:r>
            <a:r>
              <a:rPr lang="en-US" sz="1400" dirty="0"/>
              <a:t>your learning in advance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74510" y="1454487"/>
            <a:ext cx="29933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u="sng" dirty="0"/>
              <a:t>Adapting</a:t>
            </a:r>
            <a:r>
              <a:rPr lang="en-US" sz="1400" b="1" dirty="0"/>
              <a:t> :</a:t>
            </a:r>
          </a:p>
          <a:p>
            <a:r>
              <a:rPr lang="en-US" sz="1400" dirty="0"/>
              <a:t>Reflecting and making changes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24681" y="3831835"/>
            <a:ext cx="298782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u="sng" dirty="0"/>
              <a:t>Meta Learning</a:t>
            </a:r>
            <a:r>
              <a:rPr lang="en-US" sz="1400" b="1" dirty="0"/>
              <a:t>:</a:t>
            </a:r>
          </a:p>
          <a:p>
            <a:r>
              <a:rPr lang="en-US" sz="1400" dirty="0"/>
              <a:t>Talking about how you have been learning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98742" y="3427292"/>
            <a:ext cx="291581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u="sng" dirty="0"/>
              <a:t>Distilling…</a:t>
            </a:r>
          </a:p>
          <a:p>
            <a:r>
              <a:rPr lang="en-US" sz="1400" dirty="0"/>
              <a:t>…what you have learnt and what you need to learn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050" y="766445"/>
            <a:ext cx="81774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On your white boards, list your three most important Learning Habits – be ready to explain your choices</a:t>
            </a:r>
          </a:p>
        </p:txBody>
      </p:sp>
    </p:spTree>
    <p:extLst>
      <p:ext uri="{BB962C8B-B14F-4D97-AF65-F5344CB8AC3E}">
        <p14:creationId xmlns:p14="http://schemas.microsoft.com/office/powerpoint/2010/main" val="3812707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Python so far…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39831"/>
            <a:ext cx="8602512" cy="4941497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On your whiteboards, write the code to get your program to…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Ask the user for their name, store it, then display the message “So, your name is &lt;name&gt;”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Ask the user for 2 numbers, then displays their product (result of them multiplied together)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Ask the user for their age, displays “YOU’RE OLD” if their age is  greater than 50, and displays “YOU’RE STILL YOUNG”, it is less that 50.</a:t>
            </a:r>
          </a:p>
        </p:txBody>
      </p:sp>
    </p:spTree>
    <p:extLst>
      <p:ext uri="{BB962C8B-B14F-4D97-AF65-F5344CB8AC3E}">
        <p14:creationId xmlns:p14="http://schemas.microsoft.com/office/powerpoint/2010/main" val="441697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492896"/>
            <a:ext cx="8592168" cy="1143000"/>
          </a:xfrm>
        </p:spPr>
        <p:txBody>
          <a:bodyPr>
            <a:normAutofit fontScale="90000"/>
          </a:bodyPr>
          <a:lstStyle/>
          <a:p>
            <a:r>
              <a:rPr lang="en-GB" dirty="0"/>
              <a:t>Look up your target level in Computer Studies</a:t>
            </a:r>
          </a:p>
        </p:txBody>
      </p:sp>
    </p:spTree>
    <p:extLst>
      <p:ext uri="{BB962C8B-B14F-4D97-AF65-F5344CB8AC3E}">
        <p14:creationId xmlns:p14="http://schemas.microsoft.com/office/powerpoint/2010/main" val="2144908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832" y="548680"/>
            <a:ext cx="8592168" cy="710952"/>
          </a:xfrm>
        </p:spPr>
        <p:txBody>
          <a:bodyPr>
            <a:normAutofit fontScale="90000"/>
          </a:bodyPr>
          <a:lstStyle/>
          <a:p>
            <a:r>
              <a:rPr lang="en-GB" dirty="0"/>
              <a:t>Your Main Task Today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23167" y="1752486"/>
            <a:ext cx="828092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You now have been reminded of your target level…</a:t>
            </a:r>
          </a:p>
          <a:p>
            <a:r>
              <a:rPr lang="en-GB" sz="2000" dirty="0"/>
              <a:t>…based on your target level you must write a program to solve any one of the following problems.</a:t>
            </a:r>
          </a:p>
          <a:p>
            <a:endParaRPr lang="en-GB" sz="2000" dirty="0"/>
          </a:p>
          <a:p>
            <a:endParaRPr lang="en-GB" sz="2000" dirty="0"/>
          </a:p>
          <a:p>
            <a:r>
              <a:rPr lang="en-GB" sz="2000" b="1" dirty="0"/>
              <a:t>RULES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If your target level is a level T6 or 1, you can pick any task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If your target level is a level 2, you can pick any task – </a:t>
            </a:r>
            <a:r>
              <a:rPr lang="en-GB" sz="2000" b="1" dirty="0"/>
              <a:t>BUT NOT TASK 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If your target level is a level 3 or 4, you can pick any task – </a:t>
            </a:r>
            <a:r>
              <a:rPr lang="en-GB" sz="2000" b="1" dirty="0"/>
              <a:t>BUT NOT TASK A OR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5845914"/>
            <a:ext cx="4164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Choice of tasks on next few slides…</a:t>
            </a:r>
          </a:p>
        </p:txBody>
      </p:sp>
    </p:spTree>
    <p:extLst>
      <p:ext uri="{BB962C8B-B14F-4D97-AF65-F5344CB8AC3E}">
        <p14:creationId xmlns:p14="http://schemas.microsoft.com/office/powerpoint/2010/main" val="4044224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3648" y="2474641"/>
            <a:ext cx="6186309" cy="31393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b="1" u="sng" dirty="0"/>
              <a:t>Challenge A</a:t>
            </a:r>
          </a:p>
          <a:p>
            <a:endParaRPr lang="en-GB" dirty="0"/>
          </a:p>
          <a:p>
            <a:r>
              <a:rPr lang="en-GB" dirty="0"/>
              <a:t>Write a program to work out the areas of a rectangle.</a:t>
            </a:r>
          </a:p>
          <a:p>
            <a:endParaRPr lang="en-GB" dirty="0"/>
          </a:p>
          <a:p>
            <a:r>
              <a:rPr lang="en-GB" dirty="0"/>
              <a:t>Ask the user for the width and height and store them.</a:t>
            </a:r>
          </a:p>
          <a:p>
            <a:endParaRPr lang="en-GB" dirty="0"/>
          </a:p>
          <a:p>
            <a:r>
              <a:rPr lang="en-GB" dirty="0"/>
              <a:t>Calculate the area and show the results.</a:t>
            </a:r>
          </a:p>
          <a:p>
            <a:endParaRPr lang="en-GB" dirty="0"/>
          </a:p>
          <a:p>
            <a:r>
              <a:rPr lang="en-GB" b="1" dirty="0"/>
              <a:t>Extension</a:t>
            </a:r>
          </a:p>
          <a:p>
            <a:endParaRPr lang="en-GB" dirty="0"/>
          </a:p>
          <a:p>
            <a:r>
              <a:rPr lang="en-GB" dirty="0"/>
              <a:t>Work out and display the volume!</a:t>
            </a:r>
          </a:p>
        </p:txBody>
      </p:sp>
      <p:sp>
        <p:nvSpPr>
          <p:cNvPr id="3" name="Cube 2"/>
          <p:cNvSpPr/>
          <p:nvPr/>
        </p:nvSpPr>
        <p:spPr>
          <a:xfrm>
            <a:off x="5364088" y="1700808"/>
            <a:ext cx="3096344" cy="115212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0662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7704" y="1600201"/>
            <a:ext cx="5400600" cy="3917032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GB" b="1" dirty="0"/>
              <a:t>Challenge B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Write a program that will allow the user to input a value and output whether the value is </a:t>
            </a:r>
            <a:r>
              <a:rPr lang="en-GB" u="sng" dirty="0"/>
              <a:t>zero or above</a:t>
            </a:r>
            <a:r>
              <a:rPr lang="en-GB" dirty="0"/>
              <a:t> or </a:t>
            </a:r>
            <a:r>
              <a:rPr lang="en-GB" u="sng" dirty="0"/>
              <a:t>below zero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7434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7704" y="1600201"/>
            <a:ext cx="5400600" cy="3917032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b="1" dirty="0"/>
              <a:t>Challenge C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Write a program that asks the user for a password. The program should display a suitable error message if the password is incorrect and a welcome message if the password is correct. The correct password can be stored in a variable at the start of the program</a:t>
            </a:r>
          </a:p>
        </p:txBody>
      </p:sp>
    </p:spTree>
    <p:extLst>
      <p:ext uri="{BB962C8B-B14F-4D97-AF65-F5344CB8AC3E}">
        <p14:creationId xmlns:p14="http://schemas.microsoft.com/office/powerpoint/2010/main" val="2803022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1640" y="1672208"/>
            <a:ext cx="6768752" cy="3917032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b="1" dirty="0"/>
              <a:t>Challenge D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Write a program that asks the user to enter a number from 1-10 to represent how they are feeling (1=Sad, 10=Happy). Get the program to output the message “I’m so sorry to hear you are not a happy bunny” if they type in a number from 1-5. Get the program to output the message “Good to hear you are feeling dandy!” if the enter a number greater than 5.</a:t>
            </a:r>
          </a:p>
        </p:txBody>
      </p:sp>
    </p:spTree>
    <p:extLst>
      <p:ext uri="{BB962C8B-B14F-4D97-AF65-F5344CB8AC3E}">
        <p14:creationId xmlns:p14="http://schemas.microsoft.com/office/powerpoint/2010/main" val="427328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Ver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999</TotalTime>
  <Words>666</Words>
  <Application>Microsoft Office PowerPoint</Application>
  <PresentationFormat>On-screen Show (4:3)</PresentationFormat>
  <Paragraphs>98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Century Gothic</vt:lpstr>
      <vt:lpstr>Office Theme</vt:lpstr>
      <vt:lpstr>From Scratch to Python</vt:lpstr>
      <vt:lpstr>Lesson Objectives</vt:lpstr>
      <vt:lpstr>Learning Habits</vt:lpstr>
      <vt:lpstr>Python so far…</vt:lpstr>
      <vt:lpstr>Look up your target level in Computer Studies</vt:lpstr>
      <vt:lpstr>Your Main Task Today</vt:lpstr>
      <vt:lpstr>Task A</vt:lpstr>
      <vt:lpstr>Task B</vt:lpstr>
      <vt:lpstr>Task C</vt:lpstr>
      <vt:lpstr>Task D</vt:lpstr>
    </vt:vector>
  </TitlesOfParts>
  <Company>Sidmouth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Mr S Wickins</dc:creator>
  <cp:lastModifiedBy>Dominick Allgood</cp:lastModifiedBy>
  <cp:revision>126</cp:revision>
  <cp:lastPrinted>2014-01-08T08:31:11Z</cp:lastPrinted>
  <dcterms:created xsi:type="dcterms:W3CDTF">2013-06-03T08:01:30Z</dcterms:created>
  <dcterms:modified xsi:type="dcterms:W3CDTF">2018-05-25T09:10:11Z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459015</vt:lpwstr>
  </property>
  <property fmtid="{D5CDD505-2E9C-101B-9397-08002B2CF9AE}" pid="3" name="NXPowerLiteSettings">
    <vt:lpwstr>C74006B004C800</vt:lpwstr>
  </property>
  <property fmtid="{D5CDD505-2E9C-101B-9397-08002B2CF9AE}" pid="4" name="NXPowerLiteVersion">
    <vt:lpwstr>S6.1.0</vt:lpwstr>
  </property>
</Properties>
</file>